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72"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rial Bold" panose="020B0704020202020204" pitchFamily="34" charset="0"/>
      <p:bold r:id="rId19"/>
    </p:embeddedFont>
    <p:embeddedFont>
      <p:font typeface="Arimo" panose="02010600030101010101" charset="0"/>
      <p:regular r:id="rId20"/>
    </p:embeddedFont>
    <p:embeddedFont>
      <p:font typeface="Arimo Bold" panose="02010600030101010101" charset="0"/>
      <p:bold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8325" autoAdjust="0"/>
  </p:normalViewPr>
  <p:slideViewPr>
    <p:cSldViewPr showGuides="1">
      <p:cViewPr varScale="1">
        <p:scale>
          <a:sx n="37" d="100"/>
          <a:sy n="37" d="100"/>
        </p:scale>
        <p:origin x="1522" y="1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06.06.2026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各位老师好，我们是 Variable X 团队。我们带来的作品是《“有衣有靠”——基于语音识别和 YOLOv8 的智能自动晾衣机》。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在日常生活中，传统的衣物晾晒存在很多实际痛点。</a:t>
            </a:r>
          </a:p>
          <a:p>
            <a:endParaRPr lang="en-US"/>
          </a:p>
          <a:p>
            <a:r>
              <a:rPr lang="en-US"/>
              <a:t>首先晾衣服本身就费时费力、流程冗杂，其次在恶劣天气我们又无法及时收衣服导致衣服产生卫生问题。</a:t>
            </a:r>
          </a:p>
          <a:p>
            <a:endParaRPr lang="en-US"/>
          </a:p>
          <a:p>
            <a:r>
              <a:rPr lang="en-US"/>
              <a:t>总体来看，传统的手工晾晒方式，效率低，且体验差。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同时我们通过调研发现，晾衣是高频家庭劳动，用户对自动化、省力化和远程控制的需求明确，拥有巨大的市场潜力。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然而，现有智能晾衣产品大多停留在电动升降和遥控层面，仍然需要人工把衣服挂好，不仅价格昂贵，同时功能单一，和手挂基本没有区别，性价比很低！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ltLang="zh-CN" dirty="0" err="1"/>
              <a:t>因此，我们设计出了有“衣”有靠</a:t>
            </a:r>
            <a:r>
              <a:rPr lang="en-US" altLang="zh-CN" dirty="0"/>
              <a:t>——</a:t>
            </a:r>
            <a:r>
              <a:rPr lang="en-US" altLang="zh-CN" dirty="0" err="1"/>
              <a:t>智能晾衣系统，核心创新点是解决“自动化夹取和悬挂衣服”这一问题。让我们真正从“辅助晾衣”走向“自动晾衣</a:t>
            </a:r>
            <a:r>
              <a:rPr lang="en-US" altLang="zh-CN" dirty="0"/>
              <a:t>”。</a:t>
            </a:r>
          </a:p>
          <a:p>
            <a:endParaRPr lang="en-US" altLang="zh-CN" dirty="0"/>
          </a:p>
          <a:p>
            <a:r>
              <a:rPr lang="en-US" altLang="zh-CN" dirty="0" err="1"/>
              <a:t>用户通过</a:t>
            </a:r>
            <a:r>
              <a:rPr lang="en-US" altLang="zh-CN" dirty="0"/>
              <a:t> APP </a:t>
            </a:r>
            <a:r>
              <a:rPr lang="en-US" altLang="zh-CN" dirty="0" err="1"/>
              <a:t>或语音发出一条简单指令后，机器可以自动完成夹取、晾晒和收纳衣物</a:t>
            </a:r>
            <a:r>
              <a:rPr lang="en-US" altLang="zh-CN" dirty="0"/>
              <a:t>。</a:t>
            </a:r>
          </a:p>
          <a:p>
            <a:endParaRPr lang="en-US" dirty="0"/>
          </a:p>
          <a:p>
            <a:r>
              <a:rPr lang="en-US" dirty="0"/>
              <a:t>4</a:t>
            </a:r>
          </a:p>
          <a:p>
            <a:endParaRPr lang="en-US" dirty="0"/>
          </a:p>
          <a:p>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如图展示的是我们的三维结构模型和微缩原理样机，未来我们将实现真正适配生活场景的现实架构。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万向平台遵从视觉引导，可在阳台等家庭空间内调整姿态，实现从洗衣机到晾衣夹爪的自主运动导航。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zh-CN" altLang="en-US" dirty="0"/>
              <a:t>视频</a:t>
            </a:r>
            <a:endParaRPr lang="en-US" altLang="zh-CN" dirty="0"/>
          </a:p>
          <a:p>
            <a:r>
              <a:rPr lang="en-US" dirty="0" err="1"/>
              <a:t>夹取机构采用双夹爪夹取衣物，然后通过丝杆机构实现竖直升降，将衣物输送到衣架</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zh-CN" altLang="en-US" dirty="0"/>
              <a:t>视频</a:t>
            </a:r>
            <a:endParaRPr lang="en-US" dirty="0"/>
          </a:p>
          <a:p>
            <a:r>
              <a:rPr lang="en-US" dirty="0"/>
              <a:t>完成夹取后，衣物进入自动挂晾环节。我们创新性地采用齿轮传动衣架设计，通过齿轮带动两侧撑杆同步开合撑挂衣物。系统会根据视觉识别结果判断衣物状态，并选择合适的开合角度和执行方式，从而减少滑落和撑挂不到位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zh-CN" altLang="en-US" dirty="0"/>
              <a:t>视频</a:t>
            </a:r>
            <a:endParaRPr lang="en-US" dirty="0"/>
          </a:p>
          <a:p>
            <a:r>
              <a:rPr lang="en-US" dirty="0"/>
              <a:t>我们创新性地设计了传送带式晾衣杆。单件衣物挂放完成后，传送带将该衣物输送到后续工位，把前端挂放位置释放出来，方便下一件衣物继续挂放。从而实现流水线式连续晾晒，提高了空间利用率。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接下来是语音识别部分，语音识别模型本地部署在 ESP32 上，完成指令识别，并发送给下位机控制板，由控制板驱动各执行机构。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下面是视觉部分，我们采用“先识别衣物，再分析领口”的方案。接着再驱动底盘进行姿态调整，实现视觉识别到机械对准的闭环控制。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同时我们还设计了专属APP， 支持远程升降、状态监测等功能；系统还能结合天气预报，自动触发收衣流程。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结合整机结构来看，用户发出语音或</a:t>
            </a:r>
            <a:r>
              <a:rPr lang="en-US" dirty="0"/>
              <a:t> APP </a:t>
            </a:r>
            <a:r>
              <a:rPr lang="en-US" dirty="0" err="1"/>
              <a:t>指令后，系统执行一整套“感知</a:t>
            </a:r>
            <a:r>
              <a:rPr lang="en-US" dirty="0"/>
              <a:t>—</a:t>
            </a:r>
            <a:r>
              <a:rPr lang="en-US" dirty="0" err="1"/>
              <a:t>决策</a:t>
            </a:r>
            <a:r>
              <a:rPr lang="en-US" dirty="0"/>
              <a:t>—</a:t>
            </a:r>
            <a:r>
              <a:rPr lang="en-US" dirty="0" err="1"/>
              <a:t>执行”的闭环流程，实现精确夹取。接下来是我们的实机展示</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我们的创新点可以概括为三个关键词：</a:t>
            </a:r>
          </a:p>
          <a:p>
            <a:endParaRPr lang="en-US"/>
          </a:p>
          <a:p>
            <a:r>
              <a:rPr lang="en-US"/>
              <a:t>1.自动夹取和撑挂，彻底解放用户双手；</a:t>
            </a:r>
          </a:p>
          <a:p>
            <a:endParaRPr lang="en-US"/>
          </a:p>
          <a:p>
            <a:r>
              <a:rPr lang="en-US"/>
              <a:t>2.多模态智能交互，实现机械、视觉和控制的精确配合；</a:t>
            </a:r>
          </a:p>
          <a:p>
            <a:endParaRPr lang="en-US"/>
          </a:p>
          <a:p>
            <a:r>
              <a:rPr lang="en-US"/>
              <a:t>3.场景化连续晾晒，通过传送带式晾衣杆实现多件衣物连续挂放和自动收衣，更贴近真实家庭晾晒场景。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以上就是我们 Variable X 团队的作品《有衣有靠——智能自动晾衣机》。目前作品仍处在样机验证阶段，后续会继续优化视觉鲁棒性、结构承重能力和整机稳定性。感谢各位老师，恳请批评指正。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6/6/2026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openxmlformats.org/officeDocument/2006/relationships/image" Target="../media/image18.sv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svg"/><Relationship Id="rId17" Type="http://schemas.openxmlformats.org/officeDocument/2006/relationships/image" Target="../media/image17.png"/><Relationship Id="rId2" Type="http://schemas.openxmlformats.org/officeDocument/2006/relationships/notesSlide" Target="../notesSlides/notesSlide2.xml"/><Relationship Id="rId16" Type="http://schemas.openxmlformats.org/officeDocument/2006/relationships/image" Target="../media/image16.svg"/><Relationship Id="rId20" Type="http://schemas.openxmlformats.org/officeDocument/2006/relationships/image" Target="../media/image20.svg"/><Relationship Id="rId1" Type="http://schemas.openxmlformats.org/officeDocument/2006/relationships/slideLayout" Target="../slideLayouts/slideLayout7.xml"/><Relationship Id="rId6" Type="http://schemas.openxmlformats.org/officeDocument/2006/relationships/image" Target="../media/image6.svg"/><Relationship Id="rId11" Type="http://schemas.openxmlformats.org/officeDocument/2006/relationships/image" Target="../media/image11.png"/><Relationship Id="rId24" Type="http://schemas.openxmlformats.org/officeDocument/2006/relationships/image" Target="../media/image24.sv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svg"/><Relationship Id="rId19" Type="http://schemas.openxmlformats.org/officeDocument/2006/relationships/image" Target="../media/image19.pn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 Id="rId22"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svg"/><Relationship Id="rId9" Type="http://schemas.openxmlformats.org/officeDocument/2006/relationships/image" Target="../media/image31.png"/></Relationships>
</file>

<file path=ppt/slides/_rels/slide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jpeg"/></Relationships>
</file>

<file path=ppt/slides/_rels/slide5.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image" Target="../media/image6.svg"/><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image" Target="../media/image13.png"/><Relationship Id="rId47" Type="http://schemas.openxmlformats.org/officeDocument/2006/relationships/image" Target="../media/image20.sv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image" Target="../media/image36.png"/><Relationship Id="rId40" Type="http://schemas.openxmlformats.org/officeDocument/2006/relationships/image" Target="../media/image7.png"/><Relationship Id="rId45" Type="http://schemas.openxmlformats.org/officeDocument/2006/relationships/image" Target="../media/image16.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notesSlide" Target="../notesSlides/notesSlide5.xml"/><Relationship Id="rId49" Type="http://schemas.openxmlformats.org/officeDocument/2006/relationships/image" Target="../media/image22.svg"/><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4" Type="http://schemas.openxmlformats.org/officeDocument/2006/relationships/image" Target="../media/image15.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slideLayout" Target="../slideLayouts/slideLayout7.xml"/><Relationship Id="rId43" Type="http://schemas.openxmlformats.org/officeDocument/2006/relationships/image" Target="../media/image14.svg"/><Relationship Id="rId48" Type="http://schemas.openxmlformats.org/officeDocument/2006/relationships/image" Target="../media/image21.png"/><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image" Target="../media/image5.png"/><Relationship Id="rId46" Type="http://schemas.openxmlformats.org/officeDocument/2006/relationships/image" Target="../media/image19.png"/><Relationship Id="rId20" Type="http://schemas.openxmlformats.org/officeDocument/2006/relationships/tags" Target="../tags/tag20.xml"/><Relationship Id="rId41" Type="http://schemas.openxmlformats.org/officeDocument/2006/relationships/image" Target="../media/image8.svg"/><Relationship Id="rId1" Type="http://schemas.openxmlformats.org/officeDocument/2006/relationships/tags" Target="../tags/tag1.xml"/><Relationship Id="rId6"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41.jpeg"/><Relationship Id="rId3" Type="http://schemas.microsoft.com/office/2007/relationships/media" Target="../media/media2.mp4"/><Relationship Id="rId7" Type="http://schemas.openxmlformats.org/officeDocument/2006/relationships/image" Target="../media/image40.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44.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2.jpe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3.png"/><Relationship Id="rId7" Type="http://schemas.openxmlformats.org/officeDocument/2006/relationships/image" Target="../media/image28.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55.svg"/><Relationship Id="rId4" Type="http://schemas.openxmlformats.org/officeDocument/2006/relationships/image" Target="../media/image54.png"/><Relationship Id="rId9" Type="http://schemas.openxmlformats.org/officeDocument/2006/relationships/image" Target="../media/image57.sv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0" y="0"/>
            <a:ext cx="18288000" cy="292608"/>
            <a:chOff x="0" y="0"/>
            <a:chExt cx="24384000" cy="390144"/>
          </a:xfrm>
        </p:grpSpPr>
        <p:sp>
          <p:nvSpPr>
            <p:cNvPr id="5" name="Freeform 5"/>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sp>
        <p:nvSpPr>
          <p:cNvPr id="6" name="Freeform 6"/>
          <p:cNvSpPr/>
          <p:nvPr/>
        </p:nvSpPr>
        <p:spPr>
          <a:xfrm>
            <a:off x="11991056" y="1792034"/>
            <a:ext cx="7497042" cy="9897085"/>
          </a:xfrm>
          <a:custGeom>
            <a:avLst/>
            <a:gdLst/>
            <a:ahLst/>
            <a:cxnLst/>
            <a:rect l="l" t="t" r="r" b="b"/>
            <a:pathLst>
              <a:path w="7497042" h="9897085">
                <a:moveTo>
                  <a:pt x="0" y="0"/>
                </a:moveTo>
                <a:lnTo>
                  <a:pt x="7497041" y="0"/>
                </a:lnTo>
                <a:lnTo>
                  <a:pt x="7497041" y="9897084"/>
                </a:lnTo>
                <a:lnTo>
                  <a:pt x="0" y="9897084"/>
                </a:lnTo>
                <a:lnTo>
                  <a:pt x="0" y="0"/>
                </a:lnTo>
                <a:close/>
              </a:path>
            </a:pathLst>
          </a:custGeom>
          <a:blipFill>
            <a:blip r:embed="rId3">
              <a:extLst>
                <a:ext uri="{96DAC541-7B7A-43D3-8B79-37D633B846F1}">
                  <asvg:svgBlip xmlns:asvg="http://schemas.microsoft.com/office/drawing/2016/SVG/main" r:embed="rId4"/>
                </a:ext>
              </a:extLst>
            </a:blip>
            <a:stretch>
              <a:fillRect l="-12" r="-12"/>
            </a:stretch>
          </a:blipFill>
        </p:spPr>
      </p:sp>
      <p:grpSp>
        <p:nvGrpSpPr>
          <p:cNvPr id="7" name="Group 7"/>
          <p:cNvGrpSpPr/>
          <p:nvPr/>
        </p:nvGrpSpPr>
        <p:grpSpPr>
          <a:xfrm>
            <a:off x="548640" y="2933024"/>
            <a:ext cx="9922097" cy="3497771"/>
            <a:chOff x="0" y="0"/>
            <a:chExt cx="13229463" cy="4663694"/>
          </a:xfrm>
        </p:grpSpPr>
        <p:sp>
          <p:nvSpPr>
            <p:cNvPr id="8" name="Freeform 8"/>
            <p:cNvSpPr/>
            <p:nvPr/>
          </p:nvSpPr>
          <p:spPr>
            <a:xfrm>
              <a:off x="0" y="0"/>
              <a:ext cx="13229464" cy="4663694"/>
            </a:xfrm>
            <a:custGeom>
              <a:avLst/>
              <a:gdLst/>
              <a:ahLst/>
              <a:cxnLst/>
              <a:rect l="l" t="t" r="r" b="b"/>
              <a:pathLst>
                <a:path w="13229464" h="4663694">
                  <a:moveTo>
                    <a:pt x="0" y="121412"/>
                  </a:moveTo>
                  <a:cubicBezTo>
                    <a:pt x="0" y="54356"/>
                    <a:pt x="54356" y="0"/>
                    <a:pt x="121412" y="0"/>
                  </a:cubicBezTo>
                  <a:lnTo>
                    <a:pt x="13108051" y="0"/>
                  </a:lnTo>
                  <a:cubicBezTo>
                    <a:pt x="13175107" y="0"/>
                    <a:pt x="13229464" y="54356"/>
                    <a:pt x="13229464" y="121412"/>
                  </a:cubicBezTo>
                  <a:lnTo>
                    <a:pt x="13229464" y="4542282"/>
                  </a:lnTo>
                  <a:cubicBezTo>
                    <a:pt x="13229464" y="4609338"/>
                    <a:pt x="13175107" y="4663694"/>
                    <a:pt x="13108051" y="4663694"/>
                  </a:cubicBezTo>
                  <a:lnTo>
                    <a:pt x="121412" y="4663694"/>
                  </a:lnTo>
                  <a:cubicBezTo>
                    <a:pt x="54356" y="4663694"/>
                    <a:pt x="0" y="4609338"/>
                    <a:pt x="0" y="4542282"/>
                  </a:cubicBezTo>
                  <a:close/>
                </a:path>
              </a:pathLst>
            </a:custGeom>
            <a:gradFill rotWithShape="1">
              <a:gsLst>
                <a:gs pos="32000">
                  <a:srgbClr val="1D3557">
                    <a:alpha val="100000"/>
                  </a:srgbClr>
                </a:gs>
                <a:gs pos="100000">
                  <a:srgbClr val="2563EB">
                    <a:alpha val="100000"/>
                  </a:srgbClr>
                </a:gs>
              </a:gsLst>
              <a:lin ang="4320000"/>
            </a:gradFill>
          </p:spPr>
        </p:sp>
      </p:grpSp>
      <p:grpSp>
        <p:nvGrpSpPr>
          <p:cNvPr id="9" name="Group 9"/>
          <p:cNvGrpSpPr/>
          <p:nvPr/>
        </p:nvGrpSpPr>
        <p:grpSpPr>
          <a:xfrm>
            <a:off x="933450" y="813816"/>
            <a:ext cx="95250" cy="1158240"/>
            <a:chOff x="0" y="0"/>
            <a:chExt cx="127000" cy="1544320"/>
          </a:xfrm>
        </p:grpSpPr>
        <p:sp>
          <p:nvSpPr>
            <p:cNvPr id="10" name="Freeform 10"/>
            <p:cNvSpPr/>
            <p:nvPr/>
          </p:nvSpPr>
          <p:spPr>
            <a:xfrm>
              <a:off x="0" y="0"/>
              <a:ext cx="127000" cy="1544320"/>
            </a:xfrm>
            <a:custGeom>
              <a:avLst/>
              <a:gdLst/>
              <a:ahLst/>
              <a:cxnLst/>
              <a:rect l="l" t="t" r="r" b="b"/>
              <a:pathLst>
                <a:path w="127000" h="1544320">
                  <a:moveTo>
                    <a:pt x="0" y="0"/>
                  </a:moveTo>
                  <a:lnTo>
                    <a:pt x="127000" y="0"/>
                  </a:lnTo>
                  <a:lnTo>
                    <a:pt x="127000" y="1544320"/>
                  </a:lnTo>
                  <a:lnTo>
                    <a:pt x="0" y="1544320"/>
                  </a:lnTo>
                  <a:close/>
                </a:path>
              </a:pathLst>
            </a:custGeom>
            <a:solidFill>
              <a:srgbClr val="1D3557"/>
            </a:solidFill>
          </p:spPr>
        </p:sp>
      </p:grpSp>
      <p:grpSp>
        <p:nvGrpSpPr>
          <p:cNvPr id="11" name="Group 11"/>
          <p:cNvGrpSpPr/>
          <p:nvPr/>
        </p:nvGrpSpPr>
        <p:grpSpPr>
          <a:xfrm rot="5365080">
            <a:off x="3936197" y="8395840"/>
            <a:ext cx="2352942" cy="9525"/>
            <a:chOff x="0" y="0"/>
            <a:chExt cx="3137256" cy="12700"/>
          </a:xfrm>
        </p:grpSpPr>
        <p:sp>
          <p:nvSpPr>
            <p:cNvPr id="12" name="Freeform 12"/>
            <p:cNvSpPr/>
            <p:nvPr/>
          </p:nvSpPr>
          <p:spPr>
            <a:xfrm>
              <a:off x="0" y="0"/>
              <a:ext cx="3137281" cy="12700"/>
            </a:xfrm>
            <a:custGeom>
              <a:avLst/>
              <a:gdLst/>
              <a:ahLst/>
              <a:cxnLst/>
              <a:rect l="l" t="t" r="r" b="b"/>
              <a:pathLst>
                <a:path w="3137281" h="12700">
                  <a:moveTo>
                    <a:pt x="6350" y="0"/>
                  </a:moveTo>
                  <a:lnTo>
                    <a:pt x="3130931" y="0"/>
                  </a:lnTo>
                  <a:cubicBezTo>
                    <a:pt x="3134487" y="0"/>
                    <a:pt x="3137281" y="2794"/>
                    <a:pt x="3137281" y="6350"/>
                  </a:cubicBezTo>
                  <a:cubicBezTo>
                    <a:pt x="3137281" y="9906"/>
                    <a:pt x="3134487" y="12700"/>
                    <a:pt x="3130931" y="12700"/>
                  </a:cubicBezTo>
                  <a:lnTo>
                    <a:pt x="6350" y="12700"/>
                  </a:lnTo>
                  <a:cubicBezTo>
                    <a:pt x="2794" y="12700"/>
                    <a:pt x="0" y="9906"/>
                    <a:pt x="0" y="6350"/>
                  </a:cubicBezTo>
                  <a:cubicBezTo>
                    <a:pt x="0" y="2794"/>
                    <a:pt x="2794" y="0"/>
                    <a:pt x="6350" y="0"/>
                  </a:cubicBezTo>
                  <a:close/>
                </a:path>
              </a:pathLst>
            </a:custGeom>
            <a:solidFill>
              <a:srgbClr val="1D3557"/>
            </a:solidFill>
          </p:spPr>
        </p:sp>
      </p:grpSp>
      <p:sp>
        <p:nvSpPr>
          <p:cNvPr id="13" name="TextBox 13"/>
          <p:cNvSpPr txBox="1"/>
          <p:nvPr/>
        </p:nvSpPr>
        <p:spPr>
          <a:xfrm>
            <a:off x="1209056" y="974788"/>
            <a:ext cx="9652625" cy="817245"/>
          </a:xfrm>
          <a:prstGeom prst="rect">
            <a:avLst/>
          </a:prstGeom>
        </p:spPr>
        <p:txBody>
          <a:bodyPr lIns="0" tIns="0" rIns="0" bIns="0" rtlCol="0" anchor="t">
            <a:spAutoFit/>
          </a:bodyPr>
          <a:lstStyle/>
          <a:p>
            <a:pPr algn="l">
              <a:lnSpc>
                <a:spcPts val="6240"/>
              </a:lnSpc>
            </a:pPr>
            <a:r>
              <a:rPr lang="en-US" sz="5200" b="1">
                <a:solidFill>
                  <a:srgbClr val="2563EB"/>
                </a:solidFill>
                <a:latin typeface="Arimo Bold" panose="020B0704020202020204"/>
                <a:ea typeface="Arimo Bold" panose="020B0704020202020204"/>
                <a:cs typeface="Arimo Bold" panose="020B0704020202020204"/>
                <a:sym typeface="Arimo Bold" panose="020B0704020202020204"/>
              </a:rPr>
              <a:t>第九届中国高校智能机器人大赛</a:t>
            </a:r>
          </a:p>
        </p:txBody>
      </p:sp>
      <p:sp>
        <p:nvSpPr>
          <p:cNvPr id="14" name="TextBox 14"/>
          <p:cNvSpPr txBox="1"/>
          <p:nvPr/>
        </p:nvSpPr>
        <p:spPr>
          <a:xfrm>
            <a:off x="1253500" y="2085299"/>
            <a:ext cx="6934200" cy="476250"/>
          </a:xfrm>
          <a:prstGeom prst="rect">
            <a:avLst/>
          </a:prstGeom>
        </p:spPr>
        <p:txBody>
          <a:bodyPr lIns="0" tIns="0" rIns="0" bIns="0" rtlCol="0" anchor="t">
            <a:spAutoFit/>
          </a:bodyPr>
          <a:lstStyle/>
          <a:p>
            <a:pPr algn="l">
              <a:lnSpc>
                <a:spcPts val="3600"/>
              </a:lnSpc>
            </a:pPr>
            <a:r>
              <a:rPr lang="en-US" sz="3000">
                <a:solidFill>
                  <a:srgbClr val="183A5A"/>
                </a:solidFill>
                <a:latin typeface="Arimo" panose="020B0604020202020204"/>
                <a:ea typeface="Arimo" panose="020B0604020202020204"/>
                <a:cs typeface="Arimo" panose="020B0604020202020204"/>
                <a:sym typeface="Arimo" panose="020B0604020202020204"/>
              </a:rPr>
              <a:t>智能家居-自制实物组</a:t>
            </a:r>
          </a:p>
        </p:txBody>
      </p:sp>
      <p:sp>
        <p:nvSpPr>
          <p:cNvPr id="15" name="TextBox 15"/>
          <p:cNvSpPr txBox="1"/>
          <p:nvPr/>
        </p:nvSpPr>
        <p:spPr>
          <a:xfrm>
            <a:off x="590464" y="3247349"/>
            <a:ext cx="9880273" cy="1257193"/>
          </a:xfrm>
          <a:prstGeom prst="rect">
            <a:avLst/>
          </a:prstGeom>
        </p:spPr>
        <p:txBody>
          <a:bodyPr lIns="0" tIns="0" rIns="0" bIns="0" rtlCol="0" anchor="t">
            <a:spAutoFit/>
          </a:bodyPr>
          <a:lstStyle/>
          <a:p>
            <a:pPr algn="l">
              <a:lnSpc>
                <a:spcPts val="5160"/>
              </a:lnSpc>
            </a:pPr>
            <a:r>
              <a:rPr lang="en-US" sz="4300" b="1">
                <a:solidFill>
                  <a:srgbClr val="4CC9F0"/>
                </a:solidFill>
                <a:latin typeface="Arial Bold" panose="020B0704020202020204"/>
                <a:ea typeface="Arial Bold" panose="020B0704020202020204"/>
                <a:cs typeface="Arial Bold" panose="020B0704020202020204"/>
                <a:sym typeface="Arial Bold" panose="020B0704020202020204"/>
              </a:rPr>
              <a:t>有衣有靠——Smart Laundry Guardian</a:t>
            </a:r>
          </a:p>
          <a:p>
            <a:pPr algn="l">
              <a:lnSpc>
                <a:spcPts val="4695"/>
              </a:lnSpc>
            </a:pPr>
            <a:endParaRPr lang="en-US" sz="4300" b="1">
              <a:solidFill>
                <a:srgbClr val="4CC9F0"/>
              </a:solidFill>
              <a:latin typeface="Arial Bold" panose="020B0704020202020204"/>
              <a:ea typeface="Arial Bold" panose="020B0704020202020204"/>
              <a:cs typeface="Arial Bold" panose="020B0704020202020204"/>
              <a:sym typeface="Arial Bold" panose="020B0704020202020204"/>
            </a:endParaRPr>
          </a:p>
        </p:txBody>
      </p:sp>
      <p:sp>
        <p:nvSpPr>
          <p:cNvPr id="16" name="TextBox 16"/>
          <p:cNvSpPr txBox="1"/>
          <p:nvPr/>
        </p:nvSpPr>
        <p:spPr>
          <a:xfrm>
            <a:off x="590464" y="4847442"/>
            <a:ext cx="9620336" cy="619229"/>
          </a:xfrm>
          <a:prstGeom prst="rect">
            <a:avLst/>
          </a:prstGeom>
        </p:spPr>
        <p:txBody>
          <a:bodyPr wrap="square" lIns="0" tIns="0" rIns="0" bIns="0" rtlCol="0" anchor="t">
            <a:spAutoFit/>
          </a:bodyPr>
          <a:lstStyle/>
          <a:p>
            <a:pPr algn="l">
              <a:lnSpc>
                <a:spcPts val="4710"/>
              </a:lnSpc>
            </a:pPr>
            <a:r>
              <a:rPr lang="en-US" sz="3925" dirty="0">
                <a:solidFill>
                  <a:srgbClr val="FFFFFF"/>
                </a:solidFill>
                <a:latin typeface="Arimo" panose="020B0604020202020204"/>
                <a:ea typeface="Arimo" panose="020B0604020202020204"/>
                <a:cs typeface="Arimo" panose="020B0604020202020204"/>
                <a:sym typeface="Arimo" panose="020B0604020202020204"/>
              </a:rPr>
              <a:t>基于语音识别和YOLOV8的智能自动晾衣机</a:t>
            </a:r>
          </a:p>
        </p:txBody>
      </p:sp>
      <p:sp>
        <p:nvSpPr>
          <p:cNvPr id="17" name="TextBox 17"/>
          <p:cNvSpPr txBox="1"/>
          <p:nvPr/>
        </p:nvSpPr>
        <p:spPr>
          <a:xfrm>
            <a:off x="1735202" y="8127759"/>
            <a:ext cx="1960578" cy="479806"/>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Variable X</a:t>
            </a:r>
          </a:p>
        </p:txBody>
      </p:sp>
      <p:sp>
        <p:nvSpPr>
          <p:cNvPr id="18" name="TextBox 18"/>
          <p:cNvSpPr txBox="1"/>
          <p:nvPr/>
        </p:nvSpPr>
        <p:spPr>
          <a:xfrm>
            <a:off x="6526425" y="8127759"/>
            <a:ext cx="3086576" cy="479806"/>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2026年6月</a:t>
            </a:r>
          </a:p>
        </p:txBody>
      </p:sp>
      <p:sp>
        <p:nvSpPr>
          <p:cNvPr id="19" name="TextBox 19"/>
          <p:cNvSpPr txBox="1"/>
          <p:nvPr/>
        </p:nvSpPr>
        <p:spPr>
          <a:xfrm>
            <a:off x="1934461" y="7292778"/>
            <a:ext cx="2973800"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团队名称</a:t>
            </a:r>
          </a:p>
        </p:txBody>
      </p:sp>
      <p:sp>
        <p:nvSpPr>
          <p:cNvPr id="20" name="TextBox 20"/>
          <p:cNvSpPr txBox="1"/>
          <p:nvPr/>
        </p:nvSpPr>
        <p:spPr>
          <a:xfrm>
            <a:off x="6526425" y="7296521"/>
            <a:ext cx="3322549"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汇报时间</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0" y="0"/>
            <a:ext cx="18288000" cy="292608"/>
            <a:chOff x="0" y="0"/>
            <a:chExt cx="24384000" cy="390144"/>
          </a:xfrm>
        </p:grpSpPr>
        <p:sp>
          <p:nvSpPr>
            <p:cNvPr id="5" name="Freeform 5"/>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sp>
        <p:nvSpPr>
          <p:cNvPr id="6" name="Freeform 6"/>
          <p:cNvSpPr/>
          <p:nvPr/>
        </p:nvSpPr>
        <p:spPr>
          <a:xfrm>
            <a:off x="5553542" y="2102691"/>
            <a:ext cx="7329011" cy="7329106"/>
          </a:xfrm>
          <a:custGeom>
            <a:avLst/>
            <a:gdLst/>
            <a:ahLst/>
            <a:cxnLst/>
            <a:rect l="l" t="t" r="r" b="b"/>
            <a:pathLst>
              <a:path w="7329011" h="7329106">
                <a:moveTo>
                  <a:pt x="0" y="0"/>
                </a:moveTo>
                <a:lnTo>
                  <a:pt x="7329011" y="0"/>
                </a:lnTo>
                <a:lnTo>
                  <a:pt x="7329011" y="7329107"/>
                </a:lnTo>
                <a:lnTo>
                  <a:pt x="0" y="73291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5040">
            <a:off x="972539" y="1385144"/>
            <a:ext cx="16235382" cy="9525"/>
            <a:chOff x="0" y="0"/>
            <a:chExt cx="21647175" cy="12700"/>
          </a:xfrm>
        </p:grpSpPr>
        <p:sp>
          <p:nvSpPr>
            <p:cNvPr id="8" name="Freeform 8"/>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sp>
        <p:nvSpPr>
          <p:cNvPr id="9" name="TextBox 9"/>
          <p:cNvSpPr txBox="1"/>
          <p:nvPr/>
        </p:nvSpPr>
        <p:spPr>
          <a:xfrm>
            <a:off x="498558" y="5769626"/>
            <a:ext cx="4300699" cy="1618488"/>
          </a:xfrm>
          <a:prstGeom prst="rect">
            <a:avLst/>
          </a:prstGeom>
        </p:spPr>
        <p:txBody>
          <a:bodyPr lIns="0" tIns="0" rIns="0" bIns="0" rtlCol="0" anchor="t">
            <a:spAutoFit/>
          </a:bodyPr>
          <a:lstStyle/>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手动升降需要较大拉力</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挂衣、收衣动作反复抬手，易疲劳厚重衣物晾晒时更不方便</a:t>
            </a:r>
          </a:p>
          <a:p>
            <a:pPr algn="r">
              <a:lnSpc>
                <a:spcPts val="3275"/>
              </a:lnSpc>
            </a:pP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10" name="Freeform 10"/>
          <p:cNvSpPr/>
          <p:nvPr/>
        </p:nvSpPr>
        <p:spPr>
          <a:xfrm>
            <a:off x="4051007" y="4482798"/>
            <a:ext cx="1248727" cy="1248727"/>
          </a:xfrm>
          <a:custGeom>
            <a:avLst/>
            <a:gdLst/>
            <a:ahLst/>
            <a:cxnLst/>
            <a:rect l="l" t="t" r="r" b="b"/>
            <a:pathLst>
              <a:path w="1248727" h="1248727">
                <a:moveTo>
                  <a:pt x="0" y="0"/>
                </a:moveTo>
                <a:lnTo>
                  <a:pt x="1248728" y="0"/>
                </a:lnTo>
                <a:lnTo>
                  <a:pt x="1248728" y="1248728"/>
                </a:lnTo>
                <a:lnTo>
                  <a:pt x="0" y="12487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3922157" y="1719491"/>
            <a:ext cx="469983" cy="469983"/>
          </a:xfrm>
          <a:custGeom>
            <a:avLst/>
            <a:gdLst/>
            <a:ahLst/>
            <a:cxnLst/>
            <a:rect l="l" t="t" r="r" b="b"/>
            <a:pathLst>
              <a:path w="469983" h="469983">
                <a:moveTo>
                  <a:pt x="0" y="0"/>
                </a:moveTo>
                <a:lnTo>
                  <a:pt x="469982" y="0"/>
                </a:lnTo>
                <a:lnTo>
                  <a:pt x="469982" y="469983"/>
                </a:lnTo>
                <a:lnTo>
                  <a:pt x="0" y="46998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4935036" y="8154981"/>
            <a:ext cx="1248727" cy="1248727"/>
          </a:xfrm>
          <a:custGeom>
            <a:avLst/>
            <a:gdLst/>
            <a:ahLst/>
            <a:cxnLst/>
            <a:rect l="l" t="t" r="r" b="b"/>
            <a:pathLst>
              <a:path w="1248727" h="1248727">
                <a:moveTo>
                  <a:pt x="0" y="0"/>
                </a:moveTo>
                <a:lnTo>
                  <a:pt x="1248727" y="0"/>
                </a:lnTo>
                <a:lnTo>
                  <a:pt x="1248727" y="1248728"/>
                </a:lnTo>
                <a:lnTo>
                  <a:pt x="0" y="12487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Freeform 13"/>
          <p:cNvSpPr/>
          <p:nvPr/>
        </p:nvSpPr>
        <p:spPr>
          <a:xfrm>
            <a:off x="3872646" y="8156543"/>
            <a:ext cx="469983" cy="469983"/>
          </a:xfrm>
          <a:custGeom>
            <a:avLst/>
            <a:gdLst/>
            <a:ahLst/>
            <a:cxnLst/>
            <a:rect l="l" t="t" r="r" b="b"/>
            <a:pathLst>
              <a:path w="469983" h="469983">
                <a:moveTo>
                  <a:pt x="0" y="0"/>
                </a:moveTo>
                <a:lnTo>
                  <a:pt x="469982" y="0"/>
                </a:lnTo>
                <a:lnTo>
                  <a:pt x="469982" y="469983"/>
                </a:lnTo>
                <a:lnTo>
                  <a:pt x="0" y="46998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4" name="Freeform 14"/>
          <p:cNvSpPr/>
          <p:nvPr/>
        </p:nvSpPr>
        <p:spPr>
          <a:xfrm>
            <a:off x="5185600" y="1770488"/>
            <a:ext cx="1248727" cy="1248727"/>
          </a:xfrm>
          <a:custGeom>
            <a:avLst/>
            <a:gdLst/>
            <a:ahLst/>
            <a:cxnLst/>
            <a:rect l="l" t="t" r="r" b="b"/>
            <a:pathLst>
              <a:path w="1248727" h="1248727">
                <a:moveTo>
                  <a:pt x="0" y="0"/>
                </a:moveTo>
                <a:lnTo>
                  <a:pt x="1248728" y="0"/>
                </a:lnTo>
                <a:lnTo>
                  <a:pt x="1248728" y="1248727"/>
                </a:lnTo>
                <a:lnTo>
                  <a:pt x="0" y="12487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Freeform 15"/>
          <p:cNvSpPr/>
          <p:nvPr/>
        </p:nvSpPr>
        <p:spPr>
          <a:xfrm>
            <a:off x="14070597" y="8274878"/>
            <a:ext cx="389325" cy="389325"/>
          </a:xfrm>
          <a:custGeom>
            <a:avLst/>
            <a:gdLst/>
            <a:ahLst/>
            <a:cxnLst/>
            <a:rect l="l" t="t" r="r" b="b"/>
            <a:pathLst>
              <a:path w="389325" h="389325">
                <a:moveTo>
                  <a:pt x="0" y="0"/>
                </a:moveTo>
                <a:lnTo>
                  <a:pt x="389325" y="0"/>
                </a:lnTo>
                <a:lnTo>
                  <a:pt x="389325" y="389325"/>
                </a:lnTo>
                <a:lnTo>
                  <a:pt x="0" y="38932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6" name="Freeform 16"/>
          <p:cNvSpPr/>
          <p:nvPr/>
        </p:nvSpPr>
        <p:spPr>
          <a:xfrm>
            <a:off x="13172027" y="5142871"/>
            <a:ext cx="1248728" cy="1248727"/>
          </a:xfrm>
          <a:custGeom>
            <a:avLst/>
            <a:gdLst/>
            <a:ahLst/>
            <a:cxnLst/>
            <a:rect l="l" t="t" r="r" b="b"/>
            <a:pathLst>
              <a:path w="1248728" h="1248727">
                <a:moveTo>
                  <a:pt x="0" y="0"/>
                </a:moveTo>
                <a:lnTo>
                  <a:pt x="1248728" y="0"/>
                </a:lnTo>
                <a:lnTo>
                  <a:pt x="1248728" y="1248728"/>
                </a:lnTo>
                <a:lnTo>
                  <a:pt x="0" y="12487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14601825" y="5017198"/>
            <a:ext cx="455219" cy="455219"/>
          </a:xfrm>
          <a:custGeom>
            <a:avLst/>
            <a:gdLst/>
            <a:ahLst/>
            <a:cxnLst/>
            <a:rect l="l" t="t" r="r" b="b"/>
            <a:pathLst>
              <a:path w="455219" h="455219">
                <a:moveTo>
                  <a:pt x="0" y="0"/>
                </a:moveTo>
                <a:lnTo>
                  <a:pt x="455219" y="0"/>
                </a:lnTo>
                <a:lnTo>
                  <a:pt x="455219" y="455219"/>
                </a:lnTo>
                <a:lnTo>
                  <a:pt x="0" y="45521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8" name="Freeform 18"/>
          <p:cNvSpPr/>
          <p:nvPr/>
        </p:nvSpPr>
        <p:spPr>
          <a:xfrm>
            <a:off x="12276363" y="1954482"/>
            <a:ext cx="1248728" cy="1248727"/>
          </a:xfrm>
          <a:custGeom>
            <a:avLst/>
            <a:gdLst/>
            <a:ahLst/>
            <a:cxnLst/>
            <a:rect l="l" t="t" r="r" b="b"/>
            <a:pathLst>
              <a:path w="1248728" h="1248727">
                <a:moveTo>
                  <a:pt x="0" y="0"/>
                </a:moveTo>
                <a:lnTo>
                  <a:pt x="1248727" y="0"/>
                </a:lnTo>
                <a:lnTo>
                  <a:pt x="1248727" y="1248728"/>
                </a:lnTo>
                <a:lnTo>
                  <a:pt x="0" y="12487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9"/>
          <p:cNvSpPr/>
          <p:nvPr/>
        </p:nvSpPr>
        <p:spPr>
          <a:xfrm>
            <a:off x="13950077" y="1864552"/>
            <a:ext cx="455219" cy="455219"/>
          </a:xfrm>
          <a:custGeom>
            <a:avLst/>
            <a:gdLst/>
            <a:ahLst/>
            <a:cxnLst/>
            <a:rect l="l" t="t" r="r" b="b"/>
            <a:pathLst>
              <a:path w="455219" h="455219">
                <a:moveTo>
                  <a:pt x="0" y="0"/>
                </a:moveTo>
                <a:lnTo>
                  <a:pt x="455219" y="0"/>
                </a:lnTo>
                <a:lnTo>
                  <a:pt x="455219" y="455219"/>
                </a:lnTo>
                <a:lnTo>
                  <a:pt x="0" y="45521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0" name="Freeform 20"/>
          <p:cNvSpPr/>
          <p:nvPr/>
        </p:nvSpPr>
        <p:spPr>
          <a:xfrm>
            <a:off x="11858692" y="8274878"/>
            <a:ext cx="1313336" cy="1248727"/>
          </a:xfrm>
          <a:custGeom>
            <a:avLst/>
            <a:gdLst/>
            <a:ahLst/>
            <a:cxnLst/>
            <a:rect l="l" t="t" r="r" b="b"/>
            <a:pathLst>
              <a:path w="1313336" h="1248727">
                <a:moveTo>
                  <a:pt x="0" y="0"/>
                </a:moveTo>
                <a:lnTo>
                  <a:pt x="1313335" y="0"/>
                </a:lnTo>
                <a:lnTo>
                  <a:pt x="1313335" y="1248728"/>
                </a:lnTo>
                <a:lnTo>
                  <a:pt x="0" y="1248728"/>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1" name="Freeform 21"/>
          <p:cNvSpPr/>
          <p:nvPr/>
        </p:nvSpPr>
        <p:spPr>
          <a:xfrm>
            <a:off x="2950169" y="5039601"/>
            <a:ext cx="469983" cy="469983"/>
          </a:xfrm>
          <a:custGeom>
            <a:avLst/>
            <a:gdLst/>
            <a:ahLst/>
            <a:cxnLst/>
            <a:rect l="l" t="t" r="r" b="b"/>
            <a:pathLst>
              <a:path w="469983" h="469983">
                <a:moveTo>
                  <a:pt x="0" y="0"/>
                </a:moveTo>
                <a:lnTo>
                  <a:pt x="469982" y="0"/>
                </a:lnTo>
                <a:lnTo>
                  <a:pt x="469982" y="469983"/>
                </a:lnTo>
                <a:lnTo>
                  <a:pt x="0" y="469983"/>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22" name="TextBox 22"/>
          <p:cNvSpPr txBox="1"/>
          <p:nvPr/>
        </p:nvSpPr>
        <p:spPr>
          <a:xfrm>
            <a:off x="4314859" y="4766634"/>
            <a:ext cx="721023"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操作费力</a:t>
            </a:r>
          </a:p>
        </p:txBody>
      </p:sp>
      <p:sp>
        <p:nvSpPr>
          <p:cNvPr id="23" name="TextBox 23"/>
          <p:cNvSpPr txBox="1"/>
          <p:nvPr/>
        </p:nvSpPr>
        <p:spPr>
          <a:xfrm>
            <a:off x="12533128" y="2166899"/>
            <a:ext cx="735130"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卫生问题</a:t>
            </a:r>
          </a:p>
        </p:txBody>
      </p:sp>
      <p:grpSp>
        <p:nvGrpSpPr>
          <p:cNvPr id="24" name="Group 24"/>
          <p:cNvGrpSpPr/>
          <p:nvPr/>
        </p:nvGrpSpPr>
        <p:grpSpPr>
          <a:xfrm rot="10783440">
            <a:off x="1832115" y="4135755"/>
            <a:ext cx="2980411" cy="9525"/>
            <a:chOff x="0" y="0"/>
            <a:chExt cx="3973881" cy="12700"/>
          </a:xfrm>
        </p:grpSpPr>
        <p:sp>
          <p:nvSpPr>
            <p:cNvPr id="25" name="Freeform 25"/>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grpSp>
        <p:nvGrpSpPr>
          <p:cNvPr id="26" name="Group 26"/>
          <p:cNvGrpSpPr/>
          <p:nvPr/>
        </p:nvGrpSpPr>
        <p:grpSpPr>
          <a:xfrm rot="10783440">
            <a:off x="1694955" y="7267575"/>
            <a:ext cx="2980411" cy="9525"/>
            <a:chOff x="0" y="0"/>
            <a:chExt cx="3973881" cy="12700"/>
          </a:xfrm>
        </p:grpSpPr>
        <p:sp>
          <p:nvSpPr>
            <p:cNvPr id="27" name="Freeform 27"/>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grpSp>
        <p:nvGrpSpPr>
          <p:cNvPr id="28" name="Group 28"/>
          <p:cNvGrpSpPr/>
          <p:nvPr/>
        </p:nvGrpSpPr>
        <p:grpSpPr>
          <a:xfrm rot="16560">
            <a:off x="13452615" y="4135755"/>
            <a:ext cx="2980411" cy="9525"/>
            <a:chOff x="0" y="0"/>
            <a:chExt cx="3973881" cy="12700"/>
          </a:xfrm>
        </p:grpSpPr>
        <p:sp>
          <p:nvSpPr>
            <p:cNvPr id="29" name="Freeform 29"/>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grpSp>
        <p:nvGrpSpPr>
          <p:cNvPr id="30" name="Group 30"/>
          <p:cNvGrpSpPr/>
          <p:nvPr/>
        </p:nvGrpSpPr>
        <p:grpSpPr>
          <a:xfrm rot="16560">
            <a:off x="13612635" y="7267575"/>
            <a:ext cx="2980411" cy="9525"/>
            <a:chOff x="0" y="0"/>
            <a:chExt cx="3973881" cy="12700"/>
          </a:xfrm>
        </p:grpSpPr>
        <p:sp>
          <p:nvSpPr>
            <p:cNvPr id="31" name="Freeform 31"/>
            <p:cNvSpPr/>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grpSp>
        <p:nvGrpSpPr>
          <p:cNvPr id="32" name="Group 32"/>
          <p:cNvGrpSpPr/>
          <p:nvPr/>
        </p:nvGrpSpPr>
        <p:grpSpPr>
          <a:xfrm>
            <a:off x="5864285" y="2359866"/>
            <a:ext cx="6707505" cy="2823210"/>
            <a:chOff x="0" y="0"/>
            <a:chExt cx="8943340" cy="3764280"/>
          </a:xfrm>
        </p:grpSpPr>
        <p:sp>
          <p:nvSpPr>
            <p:cNvPr id="33" name="Freeform 33"/>
            <p:cNvSpPr/>
            <p:nvPr/>
          </p:nvSpPr>
          <p:spPr>
            <a:xfrm>
              <a:off x="0" y="0"/>
              <a:ext cx="8943340" cy="3764280"/>
            </a:xfrm>
            <a:custGeom>
              <a:avLst/>
              <a:gdLst/>
              <a:ahLst/>
              <a:cxnLst/>
              <a:rect l="l" t="t" r="r" b="b"/>
              <a:pathLst>
                <a:path w="8943340" h="3764280">
                  <a:moveTo>
                    <a:pt x="4471670" y="0"/>
                  </a:moveTo>
                  <a:cubicBezTo>
                    <a:pt x="6667119" y="0"/>
                    <a:pt x="8498840" y="1557274"/>
                    <a:pt x="8922512" y="3627501"/>
                  </a:cubicBezTo>
                  <a:lnTo>
                    <a:pt x="8943340" y="3764280"/>
                  </a:lnTo>
                  <a:lnTo>
                    <a:pt x="0" y="3764280"/>
                  </a:lnTo>
                  <a:lnTo>
                    <a:pt x="20828" y="3627501"/>
                  </a:lnTo>
                  <a:cubicBezTo>
                    <a:pt x="444500" y="1557274"/>
                    <a:pt x="2276221" y="0"/>
                    <a:pt x="4471670" y="0"/>
                  </a:cubicBezTo>
                  <a:close/>
                </a:path>
              </a:pathLst>
            </a:custGeom>
            <a:gradFill rotWithShape="1">
              <a:gsLst>
                <a:gs pos="0">
                  <a:srgbClr val="FFFFFF">
                    <a:alpha val="100000"/>
                  </a:srgbClr>
                </a:gs>
                <a:gs pos="57800">
                  <a:srgbClr val="FFFFFF">
                    <a:alpha val="27000"/>
                  </a:srgbClr>
                </a:gs>
                <a:gs pos="100000">
                  <a:srgbClr val="FFFFFF">
                    <a:alpha val="0"/>
                  </a:srgbClr>
                </a:gs>
              </a:gsLst>
              <a:lin ang="5400000"/>
            </a:gradFill>
          </p:spPr>
        </p:sp>
      </p:grpSp>
      <p:sp>
        <p:nvSpPr>
          <p:cNvPr id="34" name="Freeform 34"/>
          <p:cNvSpPr/>
          <p:nvPr/>
        </p:nvSpPr>
        <p:spPr>
          <a:xfrm>
            <a:off x="4702197" y="4060031"/>
            <a:ext cx="194120" cy="194120"/>
          </a:xfrm>
          <a:custGeom>
            <a:avLst/>
            <a:gdLst/>
            <a:ahLst/>
            <a:cxnLst/>
            <a:rect l="l" t="t" r="r" b="b"/>
            <a:pathLst>
              <a:path w="194120" h="194120">
                <a:moveTo>
                  <a:pt x="0" y="0"/>
                </a:moveTo>
                <a:lnTo>
                  <a:pt x="194120" y="0"/>
                </a:lnTo>
                <a:lnTo>
                  <a:pt x="194120" y="194120"/>
                </a:lnTo>
                <a:lnTo>
                  <a:pt x="0" y="19412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5" name="Freeform 35"/>
          <p:cNvSpPr/>
          <p:nvPr/>
        </p:nvSpPr>
        <p:spPr>
          <a:xfrm>
            <a:off x="4561703"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6" name="Freeform 36"/>
          <p:cNvSpPr/>
          <p:nvPr/>
        </p:nvSpPr>
        <p:spPr>
          <a:xfrm>
            <a:off x="13375748" y="4060031"/>
            <a:ext cx="194120" cy="194120"/>
          </a:xfrm>
          <a:custGeom>
            <a:avLst/>
            <a:gdLst/>
            <a:ahLst/>
            <a:cxnLst/>
            <a:rect l="l" t="t" r="r" b="b"/>
            <a:pathLst>
              <a:path w="194120" h="194120">
                <a:moveTo>
                  <a:pt x="0" y="0"/>
                </a:moveTo>
                <a:lnTo>
                  <a:pt x="194119" y="0"/>
                </a:lnTo>
                <a:lnTo>
                  <a:pt x="194119" y="194120"/>
                </a:lnTo>
                <a:lnTo>
                  <a:pt x="0" y="19412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7" name="Freeform 37"/>
          <p:cNvSpPr/>
          <p:nvPr/>
        </p:nvSpPr>
        <p:spPr>
          <a:xfrm>
            <a:off x="13516527"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38" name="Group 38"/>
          <p:cNvGrpSpPr/>
          <p:nvPr/>
        </p:nvGrpSpPr>
        <p:grpSpPr>
          <a:xfrm>
            <a:off x="9160821" y="2574198"/>
            <a:ext cx="28575" cy="623888"/>
            <a:chOff x="0" y="0"/>
            <a:chExt cx="38100" cy="831850"/>
          </a:xfrm>
        </p:grpSpPr>
        <p:sp>
          <p:nvSpPr>
            <p:cNvPr id="39" name="Freeform 39"/>
            <p:cNvSpPr/>
            <p:nvPr/>
          </p:nvSpPr>
          <p:spPr>
            <a:xfrm>
              <a:off x="-4" y="-4"/>
              <a:ext cx="38108" cy="831858"/>
            </a:xfrm>
            <a:custGeom>
              <a:avLst/>
              <a:gdLst/>
              <a:ahLst/>
              <a:cxnLst/>
              <a:rect l="l" t="t" r="r" b="b"/>
              <a:pathLst>
                <a:path w="38108" h="831858">
                  <a:moveTo>
                    <a:pt x="12704" y="6100"/>
                  </a:moveTo>
                  <a:lnTo>
                    <a:pt x="38104" y="825250"/>
                  </a:lnTo>
                  <a:cubicBezTo>
                    <a:pt x="38231" y="828806"/>
                    <a:pt x="35437" y="831727"/>
                    <a:pt x="32008" y="831854"/>
                  </a:cubicBezTo>
                  <a:cubicBezTo>
                    <a:pt x="28579" y="831981"/>
                    <a:pt x="25531" y="829187"/>
                    <a:pt x="25404" y="825758"/>
                  </a:cubicBezTo>
                  <a:lnTo>
                    <a:pt x="4" y="6608"/>
                  </a:lnTo>
                  <a:cubicBezTo>
                    <a:pt x="-123" y="3052"/>
                    <a:pt x="2671" y="131"/>
                    <a:pt x="6100" y="4"/>
                  </a:cubicBezTo>
                  <a:cubicBezTo>
                    <a:pt x="9529" y="-123"/>
                    <a:pt x="12577" y="2671"/>
                    <a:pt x="12704" y="6100"/>
                  </a:cubicBezTo>
                  <a:close/>
                </a:path>
              </a:pathLst>
            </a:custGeom>
            <a:solidFill>
              <a:srgbClr val="1D3557"/>
            </a:solidFill>
          </p:spPr>
        </p:sp>
      </p:grpSp>
      <p:sp>
        <p:nvSpPr>
          <p:cNvPr id="40" name="Freeform 40"/>
          <p:cNvSpPr/>
          <p:nvPr/>
        </p:nvSpPr>
        <p:spPr>
          <a:xfrm>
            <a:off x="6741947" y="3784121"/>
            <a:ext cx="5391541" cy="7513025"/>
          </a:xfrm>
          <a:custGeom>
            <a:avLst/>
            <a:gdLst/>
            <a:ahLst/>
            <a:cxnLst/>
            <a:rect l="l" t="t" r="r" b="b"/>
            <a:pathLst>
              <a:path w="5391541" h="7513025">
                <a:moveTo>
                  <a:pt x="0" y="0"/>
                </a:moveTo>
                <a:lnTo>
                  <a:pt x="5391541" y="0"/>
                </a:lnTo>
                <a:lnTo>
                  <a:pt x="5391541" y="7513024"/>
                </a:lnTo>
                <a:lnTo>
                  <a:pt x="0" y="7513024"/>
                </a:lnTo>
                <a:lnTo>
                  <a:pt x="0" y="0"/>
                </a:lnTo>
                <a:close/>
              </a:path>
            </a:pathLst>
          </a:custGeom>
          <a:blipFill>
            <a:blip r:embed="rId23">
              <a:extLst>
                <a:ext uri="{96DAC541-7B7A-43D3-8B79-37D633B846F1}">
                  <asvg:svgBlip xmlns:asvg="http://schemas.microsoft.com/office/drawing/2016/SVG/main" r:embed="rId24"/>
                </a:ext>
              </a:extLst>
            </a:blip>
            <a:stretch>
              <a:fillRect l="-69" r="-70"/>
            </a:stretch>
          </a:blipFill>
        </p:spPr>
      </p:sp>
      <p:sp>
        <p:nvSpPr>
          <p:cNvPr id="41" name="TextBox 41"/>
          <p:cNvSpPr txBox="1"/>
          <p:nvPr/>
        </p:nvSpPr>
        <p:spPr>
          <a:xfrm>
            <a:off x="972541" y="554093"/>
            <a:ext cx="8933402"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研发背景：人工晾衣痛点分析</a:t>
            </a:r>
          </a:p>
        </p:txBody>
      </p:sp>
      <p:sp>
        <p:nvSpPr>
          <p:cNvPr id="42" name="TextBox 42"/>
          <p:cNvSpPr txBox="1"/>
          <p:nvPr/>
        </p:nvSpPr>
        <p:spPr>
          <a:xfrm>
            <a:off x="13525090" y="8698349"/>
            <a:ext cx="4857198" cy="1618488"/>
          </a:xfrm>
          <a:prstGeom prst="rect">
            <a:avLst/>
          </a:prstGeom>
        </p:spPr>
        <p:txBody>
          <a:bodyPr lIns="0" tIns="0" rIns="0" bIns="0" rtlCol="0" anchor="t">
            <a:spAutoFit/>
          </a:bodyPr>
          <a:lstStyle/>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传统衣架功能单一占用阳台空间</a:t>
            </a:r>
          </a:p>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晾晒区域固定无法适应不同户型</a:t>
            </a:r>
          </a:p>
          <a:p>
            <a:pPr marL="480060" lvl="2" indent="-160020" algn="just">
              <a:lnSpc>
                <a:spcPts val="3275"/>
              </a:lnSpc>
              <a:buFont typeface="Arial" panose="020B0604020202020204"/>
              <a:buChar char="⚬"/>
            </a:pPr>
            <a:r>
              <a:rPr lang="en-US" sz="2100">
                <a:solidFill>
                  <a:srgbClr val="183A5A"/>
                </a:solidFill>
                <a:latin typeface="Arimo" panose="020B0604020202020204"/>
                <a:ea typeface="Arimo" panose="020B0604020202020204"/>
                <a:cs typeface="Arimo" panose="020B0604020202020204"/>
                <a:sym typeface="Arimo" panose="020B0604020202020204"/>
              </a:rPr>
              <a:t>衣物间距不合理影响晾干效果</a:t>
            </a:r>
          </a:p>
          <a:p>
            <a:pPr marL="480060" lvl="2" indent="-160020" algn="just">
              <a:lnSpc>
                <a:spcPts val="3275"/>
              </a:lnSpc>
            </a:pP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43" name="TextBox 43"/>
          <p:cNvSpPr txBox="1"/>
          <p:nvPr/>
        </p:nvSpPr>
        <p:spPr>
          <a:xfrm>
            <a:off x="196139" y="8567814"/>
            <a:ext cx="4196001" cy="1208913"/>
          </a:xfrm>
          <a:prstGeom prst="rect">
            <a:avLst/>
          </a:prstGeom>
        </p:spPr>
        <p:txBody>
          <a:bodyPr lIns="0" tIns="0" rIns="0" bIns="0" rtlCol="0" anchor="t">
            <a:spAutoFit/>
          </a:bodyPr>
          <a:lstStyle/>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包含4个以上标准步骤</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夜间操作易因困倦导致挂衣不准</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衣物种类繁多，且挂晾的方式冗多</a:t>
            </a:r>
          </a:p>
        </p:txBody>
      </p:sp>
      <p:sp>
        <p:nvSpPr>
          <p:cNvPr id="44" name="TextBox 44"/>
          <p:cNvSpPr txBox="1"/>
          <p:nvPr/>
        </p:nvSpPr>
        <p:spPr>
          <a:xfrm>
            <a:off x="599823" y="2486358"/>
            <a:ext cx="4108580" cy="1208913"/>
          </a:xfrm>
          <a:prstGeom prst="rect">
            <a:avLst/>
          </a:prstGeom>
        </p:spPr>
        <p:txBody>
          <a:bodyPr lIns="0" tIns="0" rIns="0" bIns="0" rtlCol="0" anchor="t">
            <a:spAutoFit/>
          </a:bodyPr>
          <a:lstStyle/>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洗衣服频率高，衣物常常很多</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晾晒流程往往耗时较长</a:t>
            </a:r>
          </a:p>
          <a:p>
            <a:pPr algn="r">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收衣服的过程也是很繁琐</a:t>
            </a:r>
          </a:p>
        </p:txBody>
      </p:sp>
      <p:sp>
        <p:nvSpPr>
          <p:cNvPr id="45" name="TextBox 45"/>
          <p:cNvSpPr txBox="1"/>
          <p:nvPr/>
        </p:nvSpPr>
        <p:spPr>
          <a:xfrm>
            <a:off x="13976299" y="2329205"/>
            <a:ext cx="4108580" cy="1285113"/>
          </a:xfrm>
          <a:prstGeom prst="rect">
            <a:avLst/>
          </a:prstGeom>
        </p:spPr>
        <p:txBody>
          <a:bodyPr lIns="0" tIns="0" rIns="0" bIns="0" rtlCol="0" anchor="t">
            <a:spAutoFit/>
          </a:bodyPr>
          <a:lstStyle/>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衣物长时间潮湿容易滋生细菌</a:t>
            </a:r>
          </a:p>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容易产生霉味、异味</a:t>
            </a:r>
          </a:p>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内衣、婴幼儿衣物对卫生要求更高</a:t>
            </a:r>
          </a:p>
        </p:txBody>
      </p:sp>
      <p:sp>
        <p:nvSpPr>
          <p:cNvPr id="46" name="TextBox 46"/>
          <p:cNvSpPr txBox="1"/>
          <p:nvPr/>
        </p:nvSpPr>
        <p:spPr>
          <a:xfrm>
            <a:off x="14459922" y="5571430"/>
            <a:ext cx="3922366" cy="1285113"/>
          </a:xfrm>
          <a:prstGeom prst="rect">
            <a:avLst/>
          </a:prstGeom>
        </p:spPr>
        <p:txBody>
          <a:bodyPr lIns="0" tIns="0" rIns="0" bIns="0" rtlCol="0" anchor="t">
            <a:spAutoFit/>
          </a:bodyPr>
          <a:lstStyle/>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突然下雨来不及收衣</a:t>
            </a:r>
          </a:p>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大风天气衣物晃动、掉落风险高</a:t>
            </a:r>
          </a:p>
          <a:p>
            <a:pPr algn="just">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空气湿度大时容易返潮</a:t>
            </a:r>
          </a:p>
        </p:txBody>
      </p:sp>
      <p:sp>
        <p:nvSpPr>
          <p:cNvPr id="47" name="TextBox 47"/>
          <p:cNvSpPr txBox="1"/>
          <p:nvPr/>
        </p:nvSpPr>
        <p:spPr>
          <a:xfrm>
            <a:off x="12124220" y="8523005"/>
            <a:ext cx="758333"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空间浪费</a:t>
            </a:r>
          </a:p>
        </p:txBody>
      </p:sp>
      <p:sp>
        <p:nvSpPr>
          <p:cNvPr id="48" name="TextBox 48"/>
          <p:cNvSpPr txBox="1"/>
          <p:nvPr/>
        </p:nvSpPr>
        <p:spPr>
          <a:xfrm>
            <a:off x="5185600" y="8367398"/>
            <a:ext cx="747532"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流程冗杂</a:t>
            </a:r>
          </a:p>
        </p:txBody>
      </p:sp>
      <p:sp>
        <p:nvSpPr>
          <p:cNvPr id="49" name="TextBox 49"/>
          <p:cNvSpPr txBox="1"/>
          <p:nvPr/>
        </p:nvSpPr>
        <p:spPr>
          <a:xfrm>
            <a:off x="5345220" y="2029168"/>
            <a:ext cx="832495"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时效紧迫</a:t>
            </a:r>
          </a:p>
        </p:txBody>
      </p:sp>
      <p:sp>
        <p:nvSpPr>
          <p:cNvPr id="50" name="TextBox 50"/>
          <p:cNvSpPr txBox="1"/>
          <p:nvPr/>
        </p:nvSpPr>
        <p:spPr>
          <a:xfrm>
            <a:off x="13428793" y="5355288"/>
            <a:ext cx="735130" cy="742950"/>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天气问题</a:t>
            </a:r>
          </a:p>
        </p:txBody>
      </p:sp>
      <p:sp>
        <p:nvSpPr>
          <p:cNvPr id="51" name="TextBox 51"/>
          <p:cNvSpPr txBox="1"/>
          <p:nvPr/>
        </p:nvSpPr>
        <p:spPr>
          <a:xfrm>
            <a:off x="6819719" y="3203096"/>
            <a:ext cx="4710770" cy="495300"/>
          </a:xfrm>
          <a:prstGeom prst="rect">
            <a:avLst/>
          </a:prstGeom>
        </p:spPr>
        <p:txBody>
          <a:bodyPr lIns="0" tIns="0" rIns="0" bIns="0" rtlCol="0" anchor="t">
            <a:spAutoFit/>
          </a:bodyPr>
          <a:lstStyle/>
          <a:p>
            <a:pPr algn="ctr">
              <a:lnSpc>
                <a:spcPts val="360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人工手动晾晒衣物</a:t>
            </a:r>
          </a:p>
        </p:txBody>
      </p:sp>
      <p:sp>
        <p:nvSpPr>
          <p:cNvPr id="52" name="TextBox 52"/>
          <p:cNvSpPr txBox="1"/>
          <p:nvPr/>
        </p:nvSpPr>
        <p:spPr>
          <a:xfrm>
            <a:off x="7367368" y="2640463"/>
            <a:ext cx="1490586" cy="500663"/>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费时费力</a:t>
            </a:r>
          </a:p>
        </p:txBody>
      </p:sp>
      <p:sp>
        <p:nvSpPr>
          <p:cNvPr id="53" name="TextBox 53"/>
          <p:cNvSpPr txBox="1"/>
          <p:nvPr/>
        </p:nvSpPr>
        <p:spPr>
          <a:xfrm>
            <a:off x="9355064" y="2600287"/>
            <a:ext cx="1630994" cy="447675"/>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效果不佳</a:t>
            </a:r>
          </a:p>
        </p:txBody>
      </p:sp>
      <p:grpSp>
        <p:nvGrpSpPr>
          <p:cNvPr id="54" name="Group 54"/>
          <p:cNvGrpSpPr/>
          <p:nvPr/>
        </p:nvGrpSpPr>
        <p:grpSpPr>
          <a:xfrm>
            <a:off x="4757709" y="7970987"/>
            <a:ext cx="1607125" cy="1607125"/>
            <a:chOff x="0" y="0"/>
            <a:chExt cx="2142833" cy="2142833"/>
          </a:xfrm>
        </p:grpSpPr>
        <p:sp>
          <p:nvSpPr>
            <p:cNvPr id="55" name="Freeform 55"/>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sp>
      </p:grpSp>
      <p:grpSp>
        <p:nvGrpSpPr>
          <p:cNvPr id="56" name="Group 56"/>
          <p:cNvGrpSpPr/>
          <p:nvPr/>
        </p:nvGrpSpPr>
        <p:grpSpPr>
          <a:xfrm>
            <a:off x="11658248" y="8095680"/>
            <a:ext cx="1690278" cy="1607125"/>
            <a:chOff x="0" y="0"/>
            <a:chExt cx="2253704" cy="2142833"/>
          </a:xfrm>
        </p:grpSpPr>
        <p:sp>
          <p:nvSpPr>
            <p:cNvPr id="57" name="Freeform 57"/>
            <p:cNvSpPr/>
            <p:nvPr/>
          </p:nvSpPr>
          <p:spPr>
            <a:xfrm>
              <a:off x="0" y="0"/>
              <a:ext cx="2253610" cy="2142744"/>
            </a:xfrm>
            <a:custGeom>
              <a:avLst/>
              <a:gdLst/>
              <a:ahLst/>
              <a:cxnLst/>
              <a:rect l="l" t="t" r="r" b="b"/>
              <a:pathLst>
                <a:path w="2253610" h="2142744">
                  <a:moveTo>
                    <a:pt x="0" y="1071372"/>
                  </a:moveTo>
                  <a:cubicBezTo>
                    <a:pt x="0" y="479679"/>
                    <a:pt x="504498" y="0"/>
                    <a:pt x="1126805" y="0"/>
                  </a:cubicBezTo>
                  <a:cubicBezTo>
                    <a:pt x="1749112" y="0"/>
                    <a:pt x="2253610" y="479679"/>
                    <a:pt x="2253610" y="1071372"/>
                  </a:cubicBezTo>
                  <a:cubicBezTo>
                    <a:pt x="2253610" y="1663065"/>
                    <a:pt x="1749112" y="2142744"/>
                    <a:pt x="1126805" y="2142744"/>
                  </a:cubicBezTo>
                  <a:cubicBezTo>
                    <a:pt x="504498" y="2142744"/>
                    <a:pt x="0" y="1663192"/>
                    <a:pt x="0" y="1071372"/>
                  </a:cubicBezTo>
                  <a:close/>
                </a:path>
              </a:pathLst>
            </a:custGeom>
            <a:solidFill>
              <a:srgbClr val="197962">
                <a:alpha val="0"/>
              </a:srgbClr>
            </a:solidFill>
          </p:spPr>
        </p:sp>
      </p:grpSp>
      <p:grpSp>
        <p:nvGrpSpPr>
          <p:cNvPr id="58" name="Group 58"/>
          <p:cNvGrpSpPr/>
          <p:nvPr/>
        </p:nvGrpSpPr>
        <p:grpSpPr>
          <a:xfrm>
            <a:off x="12099036" y="1770488"/>
            <a:ext cx="1607125" cy="1607125"/>
            <a:chOff x="0" y="0"/>
            <a:chExt cx="2142833" cy="2142833"/>
          </a:xfrm>
        </p:grpSpPr>
        <p:sp>
          <p:nvSpPr>
            <p:cNvPr id="59" name="Freeform 59"/>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sp>
      </p:grpSp>
      <p:grpSp>
        <p:nvGrpSpPr>
          <p:cNvPr id="60" name="Group 60"/>
          <p:cNvGrpSpPr/>
          <p:nvPr/>
        </p:nvGrpSpPr>
        <p:grpSpPr>
          <a:xfrm>
            <a:off x="12994700" y="4958877"/>
            <a:ext cx="1607125" cy="1607125"/>
            <a:chOff x="0" y="0"/>
            <a:chExt cx="2142833" cy="2142833"/>
          </a:xfrm>
        </p:grpSpPr>
        <p:sp>
          <p:nvSpPr>
            <p:cNvPr id="61" name="Freeform 61"/>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sp>
      </p:grpSp>
      <p:grpSp>
        <p:nvGrpSpPr>
          <p:cNvPr id="62" name="Group 62"/>
          <p:cNvGrpSpPr/>
          <p:nvPr/>
        </p:nvGrpSpPr>
        <p:grpSpPr>
          <a:xfrm>
            <a:off x="5017922" y="1601843"/>
            <a:ext cx="1607125" cy="1607125"/>
            <a:chOff x="0" y="0"/>
            <a:chExt cx="2142833" cy="2142833"/>
          </a:xfrm>
        </p:grpSpPr>
        <p:sp>
          <p:nvSpPr>
            <p:cNvPr id="63" name="Freeform 63"/>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sp>
      </p:grpSp>
      <p:grpSp>
        <p:nvGrpSpPr>
          <p:cNvPr id="64" name="Group 64"/>
          <p:cNvGrpSpPr/>
          <p:nvPr/>
        </p:nvGrpSpPr>
        <p:grpSpPr>
          <a:xfrm>
            <a:off x="5553542" y="2102691"/>
            <a:ext cx="7329021" cy="7329021"/>
            <a:chOff x="0" y="0"/>
            <a:chExt cx="9772028" cy="9772028"/>
          </a:xfrm>
        </p:grpSpPr>
        <p:sp>
          <p:nvSpPr>
            <p:cNvPr id="65" name="Freeform 65"/>
            <p:cNvSpPr/>
            <p:nvPr/>
          </p:nvSpPr>
          <p:spPr>
            <a:xfrm>
              <a:off x="19050" y="19050"/>
              <a:ext cx="9733915" cy="9733915"/>
            </a:xfrm>
            <a:custGeom>
              <a:avLst/>
              <a:gdLst/>
              <a:ahLst/>
              <a:cxnLst/>
              <a:rect l="l" t="t" r="r" b="b"/>
              <a:pathLst>
                <a:path w="9733915" h="9733915">
                  <a:moveTo>
                    <a:pt x="0" y="4867021"/>
                  </a:moveTo>
                  <a:cubicBezTo>
                    <a:pt x="0" y="2179066"/>
                    <a:pt x="2179066" y="0"/>
                    <a:pt x="4867021" y="0"/>
                  </a:cubicBezTo>
                  <a:cubicBezTo>
                    <a:pt x="7554976" y="0"/>
                    <a:pt x="9733915" y="2179066"/>
                    <a:pt x="9733915" y="4867021"/>
                  </a:cubicBezTo>
                  <a:cubicBezTo>
                    <a:pt x="9733915" y="7554976"/>
                    <a:pt x="7554976" y="9733915"/>
                    <a:pt x="4867021" y="9733915"/>
                  </a:cubicBezTo>
                  <a:cubicBezTo>
                    <a:pt x="2179066" y="9733915"/>
                    <a:pt x="0" y="7554976"/>
                    <a:pt x="0" y="4867021"/>
                  </a:cubicBezTo>
                  <a:close/>
                </a:path>
              </a:pathLst>
            </a:custGeom>
            <a:solidFill>
              <a:srgbClr val="414A58">
                <a:alpha val="0"/>
              </a:srgbClr>
            </a:solidFill>
          </p:spPr>
        </p:sp>
        <p:sp>
          <p:nvSpPr>
            <p:cNvPr id="66" name="Freeform 66"/>
            <p:cNvSpPr/>
            <p:nvPr/>
          </p:nvSpPr>
          <p:spPr>
            <a:xfrm>
              <a:off x="0" y="0"/>
              <a:ext cx="9772015" cy="9772142"/>
            </a:xfrm>
            <a:custGeom>
              <a:avLst/>
              <a:gdLst/>
              <a:ahLst/>
              <a:cxnLst/>
              <a:rect l="l" t="t" r="r" b="b"/>
              <a:pathLst>
                <a:path w="9772015" h="9772142">
                  <a:moveTo>
                    <a:pt x="0" y="4886071"/>
                  </a:moveTo>
                  <a:cubicBezTo>
                    <a:pt x="0" y="2187575"/>
                    <a:pt x="2187575" y="0"/>
                    <a:pt x="4886071" y="0"/>
                  </a:cubicBezTo>
                  <a:lnTo>
                    <a:pt x="4886071" y="19050"/>
                  </a:lnTo>
                  <a:lnTo>
                    <a:pt x="4886071" y="0"/>
                  </a:lnTo>
                  <a:cubicBezTo>
                    <a:pt x="7584440" y="0"/>
                    <a:pt x="9772015" y="2187575"/>
                    <a:pt x="9772015" y="4886071"/>
                  </a:cubicBezTo>
                  <a:lnTo>
                    <a:pt x="9752965" y="4886071"/>
                  </a:lnTo>
                  <a:lnTo>
                    <a:pt x="9772015" y="4886071"/>
                  </a:lnTo>
                  <a:cubicBezTo>
                    <a:pt x="9772015" y="7584567"/>
                    <a:pt x="7584440" y="9772142"/>
                    <a:pt x="4885944" y="9772142"/>
                  </a:cubicBezTo>
                  <a:lnTo>
                    <a:pt x="4885944" y="9753092"/>
                  </a:lnTo>
                  <a:lnTo>
                    <a:pt x="4885944" y="9772142"/>
                  </a:lnTo>
                  <a:cubicBezTo>
                    <a:pt x="2187575" y="9772015"/>
                    <a:pt x="0" y="7584440"/>
                    <a:pt x="0" y="4886071"/>
                  </a:cubicBezTo>
                  <a:lnTo>
                    <a:pt x="19050" y="4886071"/>
                  </a:lnTo>
                  <a:lnTo>
                    <a:pt x="38100" y="4886071"/>
                  </a:lnTo>
                  <a:lnTo>
                    <a:pt x="19050" y="4886071"/>
                  </a:lnTo>
                  <a:lnTo>
                    <a:pt x="0" y="4886071"/>
                  </a:lnTo>
                  <a:moveTo>
                    <a:pt x="38100" y="4886071"/>
                  </a:moveTo>
                  <a:cubicBezTo>
                    <a:pt x="38100" y="4896612"/>
                    <a:pt x="29591" y="4905121"/>
                    <a:pt x="19050" y="4905121"/>
                  </a:cubicBezTo>
                  <a:cubicBezTo>
                    <a:pt x="8509" y="4905121"/>
                    <a:pt x="0" y="4896612"/>
                    <a:pt x="0" y="4886071"/>
                  </a:cubicBezTo>
                  <a:cubicBezTo>
                    <a:pt x="0" y="4875530"/>
                    <a:pt x="8509" y="4867021"/>
                    <a:pt x="19050" y="4867021"/>
                  </a:cubicBezTo>
                  <a:cubicBezTo>
                    <a:pt x="29591" y="4867021"/>
                    <a:pt x="38100" y="4875530"/>
                    <a:pt x="38100" y="4886071"/>
                  </a:cubicBezTo>
                  <a:cubicBezTo>
                    <a:pt x="38100" y="7563485"/>
                    <a:pt x="2208530" y="9733915"/>
                    <a:pt x="4886071" y="9733915"/>
                  </a:cubicBezTo>
                  <a:cubicBezTo>
                    <a:pt x="7563613" y="9733915"/>
                    <a:pt x="9734042" y="7563486"/>
                    <a:pt x="9734042" y="4885944"/>
                  </a:cubicBezTo>
                  <a:cubicBezTo>
                    <a:pt x="9734042" y="2208403"/>
                    <a:pt x="7563485" y="38100"/>
                    <a:pt x="4886071" y="38100"/>
                  </a:cubicBezTo>
                  <a:lnTo>
                    <a:pt x="4886071" y="19050"/>
                  </a:lnTo>
                  <a:lnTo>
                    <a:pt x="4886071" y="38100"/>
                  </a:lnTo>
                  <a:cubicBezTo>
                    <a:pt x="2208530" y="38100"/>
                    <a:pt x="38100" y="2208530"/>
                    <a:pt x="38100" y="4886071"/>
                  </a:cubicBezTo>
                  <a:close/>
                </a:path>
              </a:pathLst>
            </a:custGeom>
            <a:solidFill>
              <a:srgbClr val="B47800"/>
            </a:solidFill>
          </p:spPr>
        </p:sp>
      </p:grpSp>
      <p:grpSp>
        <p:nvGrpSpPr>
          <p:cNvPr id="67" name="Group 67"/>
          <p:cNvGrpSpPr/>
          <p:nvPr/>
        </p:nvGrpSpPr>
        <p:grpSpPr>
          <a:xfrm>
            <a:off x="3832117" y="4339876"/>
            <a:ext cx="1607125" cy="1537383"/>
            <a:chOff x="0" y="0"/>
            <a:chExt cx="2142833" cy="2049844"/>
          </a:xfrm>
        </p:grpSpPr>
        <p:sp>
          <p:nvSpPr>
            <p:cNvPr id="68" name="Freeform 68"/>
            <p:cNvSpPr/>
            <p:nvPr/>
          </p:nvSpPr>
          <p:spPr>
            <a:xfrm>
              <a:off x="0" y="0"/>
              <a:ext cx="2142744" cy="2049758"/>
            </a:xfrm>
            <a:custGeom>
              <a:avLst/>
              <a:gdLst/>
              <a:ahLst/>
              <a:cxnLst/>
              <a:rect l="l" t="t" r="r" b="b"/>
              <a:pathLst>
                <a:path w="2142744" h="2049758">
                  <a:moveTo>
                    <a:pt x="0" y="1024879"/>
                  </a:moveTo>
                  <a:cubicBezTo>
                    <a:pt x="0" y="458863"/>
                    <a:pt x="479679" y="0"/>
                    <a:pt x="1071372" y="0"/>
                  </a:cubicBezTo>
                  <a:cubicBezTo>
                    <a:pt x="1663065" y="0"/>
                    <a:pt x="2142744" y="458863"/>
                    <a:pt x="2142744" y="1024879"/>
                  </a:cubicBezTo>
                  <a:cubicBezTo>
                    <a:pt x="2142744" y="1590895"/>
                    <a:pt x="1663065" y="2049758"/>
                    <a:pt x="1071372" y="2049758"/>
                  </a:cubicBezTo>
                  <a:cubicBezTo>
                    <a:pt x="479679" y="2049758"/>
                    <a:pt x="0" y="1591017"/>
                    <a:pt x="0" y="1024879"/>
                  </a:cubicBezTo>
                  <a:close/>
                </a:path>
              </a:pathLst>
            </a:custGeom>
            <a:solidFill>
              <a:srgbClr val="197962">
                <a:alpha val="0"/>
              </a:srgbClr>
            </a:solid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1548741" y="2309384"/>
            <a:ext cx="7982426" cy="3694747"/>
            <a:chOff x="0" y="0"/>
            <a:chExt cx="10643235" cy="4926330"/>
          </a:xfrm>
        </p:grpSpPr>
        <p:sp>
          <p:nvSpPr>
            <p:cNvPr id="9" name="Freeform 9"/>
            <p:cNvSpPr/>
            <p:nvPr/>
          </p:nvSpPr>
          <p:spPr>
            <a:xfrm>
              <a:off x="0" y="0"/>
              <a:ext cx="10643235" cy="4926330"/>
            </a:xfrm>
            <a:custGeom>
              <a:avLst/>
              <a:gdLst/>
              <a:ahLst/>
              <a:cxnLst/>
              <a:rect l="l" t="t" r="r" b="b"/>
              <a:pathLst>
                <a:path w="10643235" h="4926330">
                  <a:moveTo>
                    <a:pt x="0" y="179578"/>
                  </a:moveTo>
                  <a:cubicBezTo>
                    <a:pt x="0" y="80391"/>
                    <a:pt x="80391" y="0"/>
                    <a:pt x="179578" y="0"/>
                  </a:cubicBezTo>
                  <a:lnTo>
                    <a:pt x="10463657" y="0"/>
                  </a:lnTo>
                  <a:cubicBezTo>
                    <a:pt x="10562844" y="0"/>
                    <a:pt x="10643235" y="80391"/>
                    <a:pt x="10643235" y="179578"/>
                  </a:cubicBezTo>
                  <a:lnTo>
                    <a:pt x="10643235" y="4746752"/>
                  </a:lnTo>
                  <a:cubicBezTo>
                    <a:pt x="10643235" y="4845939"/>
                    <a:pt x="10562844" y="4926330"/>
                    <a:pt x="10463657" y="4926330"/>
                  </a:cubicBezTo>
                  <a:lnTo>
                    <a:pt x="179578" y="4926330"/>
                  </a:lnTo>
                  <a:cubicBezTo>
                    <a:pt x="80391" y="4926330"/>
                    <a:pt x="0" y="4845939"/>
                    <a:pt x="0" y="4746752"/>
                  </a:cubicBezTo>
                  <a:close/>
                </a:path>
              </a:pathLst>
            </a:custGeom>
            <a:gradFill rotWithShape="1">
              <a:gsLst>
                <a:gs pos="12000">
                  <a:srgbClr val="1D3557">
                    <a:alpha val="100000"/>
                  </a:srgbClr>
                </a:gs>
                <a:gs pos="100000">
                  <a:srgbClr val="2563EB">
                    <a:alpha val="100000"/>
                  </a:srgbClr>
                </a:gs>
              </a:gsLst>
              <a:lin ang="4320000"/>
            </a:gradFill>
          </p:spPr>
        </p:sp>
      </p:grpSp>
      <p:grpSp>
        <p:nvGrpSpPr>
          <p:cNvPr id="10" name="Group 10"/>
          <p:cNvGrpSpPr/>
          <p:nvPr/>
        </p:nvGrpSpPr>
        <p:grpSpPr>
          <a:xfrm rot="5040">
            <a:off x="1026309" y="1071601"/>
            <a:ext cx="16235382" cy="9525"/>
            <a:chOff x="0" y="0"/>
            <a:chExt cx="21647175" cy="12700"/>
          </a:xfrm>
        </p:grpSpPr>
        <p:sp>
          <p:nvSpPr>
            <p:cNvPr id="11" name="Freeform 11"/>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sp>
        <p:nvSpPr>
          <p:cNvPr id="12" name="Freeform 12"/>
          <p:cNvSpPr/>
          <p:nvPr/>
        </p:nvSpPr>
        <p:spPr>
          <a:xfrm>
            <a:off x="1805478" y="2696004"/>
            <a:ext cx="435969" cy="435969"/>
          </a:xfrm>
          <a:custGeom>
            <a:avLst/>
            <a:gdLst/>
            <a:ahLst/>
            <a:cxnLst/>
            <a:rect l="l" t="t" r="r" b="b"/>
            <a:pathLst>
              <a:path w="435969" h="435969">
                <a:moveTo>
                  <a:pt x="0" y="0"/>
                </a:moveTo>
                <a:lnTo>
                  <a:pt x="435969" y="0"/>
                </a:lnTo>
                <a:lnTo>
                  <a:pt x="435969" y="435968"/>
                </a:lnTo>
                <a:lnTo>
                  <a:pt x="0" y="43596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1805478" y="4375842"/>
            <a:ext cx="435969" cy="435969"/>
          </a:xfrm>
          <a:custGeom>
            <a:avLst/>
            <a:gdLst/>
            <a:ahLst/>
            <a:cxnLst/>
            <a:rect l="l" t="t" r="r" b="b"/>
            <a:pathLst>
              <a:path w="435969" h="435969">
                <a:moveTo>
                  <a:pt x="0" y="0"/>
                </a:moveTo>
                <a:lnTo>
                  <a:pt x="435969" y="0"/>
                </a:lnTo>
                <a:lnTo>
                  <a:pt x="435969" y="435969"/>
                </a:lnTo>
                <a:lnTo>
                  <a:pt x="0" y="43596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4" name="Group 14"/>
          <p:cNvGrpSpPr/>
          <p:nvPr/>
        </p:nvGrpSpPr>
        <p:grpSpPr>
          <a:xfrm rot="6480">
            <a:off x="1770740" y="4071785"/>
            <a:ext cx="7602979" cy="9525"/>
            <a:chOff x="0" y="0"/>
            <a:chExt cx="10137305" cy="12700"/>
          </a:xfrm>
        </p:grpSpPr>
        <p:sp>
          <p:nvSpPr>
            <p:cNvPr id="15" name="Freeform 15"/>
            <p:cNvSpPr/>
            <p:nvPr/>
          </p:nvSpPr>
          <p:spPr>
            <a:xfrm>
              <a:off x="0" y="0"/>
              <a:ext cx="10137267" cy="12700"/>
            </a:xfrm>
            <a:custGeom>
              <a:avLst/>
              <a:gdLst/>
              <a:ahLst/>
              <a:cxnLst/>
              <a:rect l="l" t="t" r="r" b="b"/>
              <a:pathLst>
                <a:path w="10137267" h="12700">
                  <a:moveTo>
                    <a:pt x="6350" y="0"/>
                  </a:moveTo>
                  <a:lnTo>
                    <a:pt x="10130917" y="0"/>
                  </a:lnTo>
                  <a:cubicBezTo>
                    <a:pt x="10134474" y="0"/>
                    <a:pt x="10137267" y="2794"/>
                    <a:pt x="10137267" y="6350"/>
                  </a:cubicBezTo>
                  <a:cubicBezTo>
                    <a:pt x="10137267" y="9906"/>
                    <a:pt x="10134474" y="12700"/>
                    <a:pt x="10130917"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id="16" name="Group 16"/>
          <p:cNvGrpSpPr/>
          <p:nvPr/>
        </p:nvGrpSpPr>
        <p:grpSpPr>
          <a:xfrm>
            <a:off x="10526335" y="2410273"/>
            <a:ext cx="5436460" cy="7383990"/>
            <a:chOff x="0" y="0"/>
            <a:chExt cx="7248614" cy="9845319"/>
          </a:xfrm>
        </p:grpSpPr>
        <p:sp>
          <p:nvSpPr>
            <p:cNvPr id="17" name="Freeform 17"/>
            <p:cNvSpPr/>
            <p:nvPr/>
          </p:nvSpPr>
          <p:spPr>
            <a:xfrm>
              <a:off x="0" y="0"/>
              <a:ext cx="7248652" cy="9845294"/>
            </a:xfrm>
            <a:custGeom>
              <a:avLst/>
              <a:gdLst/>
              <a:ahLst/>
              <a:cxnLst/>
              <a:rect l="l" t="t" r="r" b="b"/>
              <a:pathLst>
                <a:path w="7248652" h="9845294">
                  <a:moveTo>
                    <a:pt x="0" y="0"/>
                  </a:moveTo>
                  <a:lnTo>
                    <a:pt x="7248652" y="0"/>
                  </a:lnTo>
                  <a:lnTo>
                    <a:pt x="7248652" y="9845294"/>
                  </a:lnTo>
                  <a:lnTo>
                    <a:pt x="0" y="9845294"/>
                  </a:lnTo>
                  <a:lnTo>
                    <a:pt x="0" y="0"/>
                  </a:lnTo>
                  <a:close/>
                </a:path>
              </a:pathLst>
            </a:custGeom>
            <a:blipFill>
              <a:blip r:embed="rId7"/>
              <a:stretch>
                <a:fillRect t="-2" b="-2"/>
              </a:stretch>
            </a:blipFill>
          </p:spPr>
        </p:sp>
      </p:grpSp>
      <p:grpSp>
        <p:nvGrpSpPr>
          <p:cNvPr id="18" name="Group 18"/>
          <p:cNvGrpSpPr/>
          <p:nvPr/>
        </p:nvGrpSpPr>
        <p:grpSpPr>
          <a:xfrm>
            <a:off x="1491418" y="6120791"/>
            <a:ext cx="2340702" cy="2340702"/>
            <a:chOff x="0" y="0"/>
            <a:chExt cx="3120936" cy="3120936"/>
          </a:xfrm>
        </p:grpSpPr>
        <p:sp>
          <p:nvSpPr>
            <p:cNvPr id="19" name="Freeform 19"/>
            <p:cNvSpPr/>
            <p:nvPr/>
          </p:nvSpPr>
          <p:spPr>
            <a:xfrm>
              <a:off x="0" y="0"/>
              <a:ext cx="3120898" cy="3120898"/>
            </a:xfrm>
            <a:custGeom>
              <a:avLst/>
              <a:gdLst/>
              <a:ahLst/>
              <a:cxnLst/>
              <a:rect l="l" t="t" r="r" b="b"/>
              <a:pathLst>
                <a:path w="3120898" h="3120898">
                  <a:moveTo>
                    <a:pt x="0" y="1560449"/>
                  </a:moveTo>
                  <a:cubicBezTo>
                    <a:pt x="0" y="698627"/>
                    <a:pt x="698627" y="0"/>
                    <a:pt x="1560449" y="0"/>
                  </a:cubicBezTo>
                  <a:lnTo>
                    <a:pt x="1560449" y="12700"/>
                  </a:lnTo>
                  <a:lnTo>
                    <a:pt x="1560449" y="0"/>
                  </a:lnTo>
                  <a:cubicBezTo>
                    <a:pt x="2422271" y="0"/>
                    <a:pt x="3120898" y="698627"/>
                    <a:pt x="3120898" y="1560449"/>
                  </a:cubicBezTo>
                  <a:cubicBezTo>
                    <a:pt x="3120898" y="2422271"/>
                    <a:pt x="2422271" y="3120898"/>
                    <a:pt x="1560449" y="3120898"/>
                  </a:cubicBezTo>
                  <a:lnTo>
                    <a:pt x="1560449" y="3108198"/>
                  </a:lnTo>
                  <a:lnTo>
                    <a:pt x="1560449" y="3120898"/>
                  </a:lnTo>
                  <a:cubicBezTo>
                    <a:pt x="698627" y="3120898"/>
                    <a:pt x="0" y="2422271"/>
                    <a:pt x="0" y="1560449"/>
                  </a:cubicBezTo>
                  <a:lnTo>
                    <a:pt x="12700" y="1560449"/>
                  </a:lnTo>
                  <a:lnTo>
                    <a:pt x="22352" y="1568704"/>
                  </a:lnTo>
                  <a:cubicBezTo>
                    <a:pt x="18923" y="1572768"/>
                    <a:pt x="13335" y="1574165"/>
                    <a:pt x="8255" y="1572387"/>
                  </a:cubicBezTo>
                  <a:cubicBezTo>
                    <a:pt x="3175" y="1570609"/>
                    <a:pt x="0" y="1565783"/>
                    <a:pt x="0" y="1560449"/>
                  </a:cubicBezTo>
                  <a:moveTo>
                    <a:pt x="25400" y="1560449"/>
                  </a:moveTo>
                  <a:lnTo>
                    <a:pt x="12700" y="1560449"/>
                  </a:lnTo>
                  <a:lnTo>
                    <a:pt x="3048" y="1552194"/>
                  </a:lnTo>
                  <a:cubicBezTo>
                    <a:pt x="6477" y="1548130"/>
                    <a:pt x="12065" y="1546733"/>
                    <a:pt x="17145" y="1548511"/>
                  </a:cubicBezTo>
                  <a:cubicBezTo>
                    <a:pt x="22225" y="1550289"/>
                    <a:pt x="25400" y="1555115"/>
                    <a:pt x="25400" y="1560449"/>
                  </a:cubicBezTo>
                  <a:cubicBezTo>
                    <a:pt x="25400" y="2408301"/>
                    <a:pt x="712724" y="3095498"/>
                    <a:pt x="1560449" y="3095498"/>
                  </a:cubicBezTo>
                  <a:cubicBezTo>
                    <a:pt x="2408174" y="3095498"/>
                    <a:pt x="3095498" y="2408174"/>
                    <a:pt x="3095498" y="1560449"/>
                  </a:cubicBezTo>
                  <a:lnTo>
                    <a:pt x="3108198" y="1560449"/>
                  </a:lnTo>
                  <a:lnTo>
                    <a:pt x="3095498" y="1560449"/>
                  </a:lnTo>
                  <a:cubicBezTo>
                    <a:pt x="3095498" y="712724"/>
                    <a:pt x="2408301" y="25400"/>
                    <a:pt x="1560449" y="25400"/>
                  </a:cubicBezTo>
                  <a:lnTo>
                    <a:pt x="1560449" y="12700"/>
                  </a:lnTo>
                  <a:lnTo>
                    <a:pt x="1560449" y="25400"/>
                  </a:lnTo>
                  <a:cubicBezTo>
                    <a:pt x="712724" y="25400"/>
                    <a:pt x="25400" y="712724"/>
                    <a:pt x="25400" y="1560449"/>
                  </a:cubicBezTo>
                  <a:close/>
                </a:path>
              </a:pathLst>
            </a:custGeom>
            <a:solidFill>
              <a:srgbClr val="197962"/>
            </a:solidFill>
          </p:spPr>
        </p:sp>
      </p:grpSp>
      <p:pic>
        <p:nvPicPr>
          <p:cNvPr id="20" name="Picture 20"/>
          <p:cNvPicPr>
            <a:picLocks noChangeAspect="1"/>
          </p:cNvPicPr>
          <p:nvPr/>
        </p:nvPicPr>
        <p:blipFill>
          <a:blip r:embed="rId8"/>
          <a:stretch>
            <a:fillRect/>
          </a:stretch>
        </p:blipFill>
        <p:spPr>
          <a:xfrm>
            <a:off x="1217523" y="5887700"/>
            <a:ext cx="2883074" cy="2883074"/>
          </a:xfrm>
          <a:prstGeom prst="rect">
            <a:avLst/>
          </a:prstGeom>
        </p:spPr>
      </p:pic>
      <p:grpSp>
        <p:nvGrpSpPr>
          <p:cNvPr id="21" name="Group 21"/>
          <p:cNvGrpSpPr/>
          <p:nvPr/>
        </p:nvGrpSpPr>
        <p:grpSpPr>
          <a:xfrm>
            <a:off x="1886020" y="6515383"/>
            <a:ext cx="1551508" cy="1551508"/>
            <a:chOff x="0" y="0"/>
            <a:chExt cx="2068678" cy="2068678"/>
          </a:xfrm>
        </p:grpSpPr>
        <p:sp>
          <p:nvSpPr>
            <p:cNvPr id="22" name="Freeform 22"/>
            <p:cNvSpPr/>
            <p:nvPr/>
          </p:nvSpPr>
          <p:spPr>
            <a:xfrm>
              <a:off x="0" y="0"/>
              <a:ext cx="2068576" cy="2068576"/>
            </a:xfrm>
            <a:custGeom>
              <a:avLst/>
              <a:gdLst/>
              <a:ahLst/>
              <a:cxnLst/>
              <a:rect l="l" t="t" r="r" b="b"/>
              <a:pathLst>
                <a:path w="2068576" h="2068576">
                  <a:moveTo>
                    <a:pt x="0" y="1034288"/>
                  </a:moveTo>
                  <a:cubicBezTo>
                    <a:pt x="0" y="463042"/>
                    <a:pt x="463042" y="0"/>
                    <a:pt x="1034288" y="0"/>
                  </a:cubicBezTo>
                  <a:cubicBezTo>
                    <a:pt x="1605534" y="0"/>
                    <a:pt x="2068576" y="463042"/>
                    <a:pt x="2068576" y="1034288"/>
                  </a:cubicBezTo>
                  <a:cubicBezTo>
                    <a:pt x="2068576" y="1605534"/>
                    <a:pt x="1605534" y="2068576"/>
                    <a:pt x="1034288" y="2068576"/>
                  </a:cubicBezTo>
                  <a:cubicBezTo>
                    <a:pt x="463042" y="2068576"/>
                    <a:pt x="0" y="1605534"/>
                    <a:pt x="0" y="1034288"/>
                  </a:cubicBezTo>
                  <a:close/>
                </a:path>
              </a:pathLst>
            </a:custGeom>
            <a:solidFill>
              <a:srgbClr val="FFFFFF"/>
            </a:solidFill>
          </p:spPr>
        </p:sp>
      </p:grpSp>
      <p:grpSp>
        <p:nvGrpSpPr>
          <p:cNvPr id="23" name="Group 23"/>
          <p:cNvGrpSpPr/>
          <p:nvPr/>
        </p:nvGrpSpPr>
        <p:grpSpPr>
          <a:xfrm>
            <a:off x="4300845" y="6120791"/>
            <a:ext cx="2340702" cy="2340702"/>
            <a:chOff x="0" y="0"/>
            <a:chExt cx="3120936" cy="3120936"/>
          </a:xfrm>
        </p:grpSpPr>
        <p:sp>
          <p:nvSpPr>
            <p:cNvPr id="24" name="Freeform 24"/>
            <p:cNvSpPr/>
            <p:nvPr/>
          </p:nvSpPr>
          <p:spPr>
            <a:xfrm>
              <a:off x="0" y="0"/>
              <a:ext cx="3120898" cy="3120898"/>
            </a:xfrm>
            <a:custGeom>
              <a:avLst/>
              <a:gdLst/>
              <a:ahLst/>
              <a:cxnLst/>
              <a:rect l="l" t="t" r="r" b="b"/>
              <a:pathLst>
                <a:path w="3120898" h="3120898">
                  <a:moveTo>
                    <a:pt x="0" y="1560449"/>
                  </a:moveTo>
                  <a:cubicBezTo>
                    <a:pt x="0" y="698627"/>
                    <a:pt x="698627" y="0"/>
                    <a:pt x="1560449" y="0"/>
                  </a:cubicBezTo>
                  <a:lnTo>
                    <a:pt x="1560449" y="12700"/>
                  </a:lnTo>
                  <a:lnTo>
                    <a:pt x="1560449" y="0"/>
                  </a:lnTo>
                  <a:cubicBezTo>
                    <a:pt x="2422271" y="0"/>
                    <a:pt x="3120898" y="698627"/>
                    <a:pt x="3120898" y="1560449"/>
                  </a:cubicBezTo>
                  <a:cubicBezTo>
                    <a:pt x="3120898" y="2422271"/>
                    <a:pt x="2422271" y="3120898"/>
                    <a:pt x="1560449" y="3120898"/>
                  </a:cubicBezTo>
                  <a:lnTo>
                    <a:pt x="1560449" y="3108198"/>
                  </a:lnTo>
                  <a:lnTo>
                    <a:pt x="1560449" y="3120898"/>
                  </a:lnTo>
                  <a:cubicBezTo>
                    <a:pt x="698627" y="3120898"/>
                    <a:pt x="0" y="2422271"/>
                    <a:pt x="0" y="1560449"/>
                  </a:cubicBezTo>
                  <a:lnTo>
                    <a:pt x="12700" y="1560449"/>
                  </a:lnTo>
                  <a:lnTo>
                    <a:pt x="22352" y="1568704"/>
                  </a:lnTo>
                  <a:cubicBezTo>
                    <a:pt x="18923" y="1572768"/>
                    <a:pt x="13335" y="1574165"/>
                    <a:pt x="8255" y="1572387"/>
                  </a:cubicBezTo>
                  <a:cubicBezTo>
                    <a:pt x="3175" y="1570609"/>
                    <a:pt x="0" y="1565783"/>
                    <a:pt x="0" y="1560449"/>
                  </a:cubicBezTo>
                  <a:moveTo>
                    <a:pt x="25400" y="1560449"/>
                  </a:moveTo>
                  <a:lnTo>
                    <a:pt x="12700" y="1560449"/>
                  </a:lnTo>
                  <a:lnTo>
                    <a:pt x="3048" y="1552194"/>
                  </a:lnTo>
                  <a:cubicBezTo>
                    <a:pt x="6477" y="1548130"/>
                    <a:pt x="12065" y="1546733"/>
                    <a:pt x="17145" y="1548511"/>
                  </a:cubicBezTo>
                  <a:cubicBezTo>
                    <a:pt x="22225" y="1550289"/>
                    <a:pt x="25400" y="1555115"/>
                    <a:pt x="25400" y="1560449"/>
                  </a:cubicBezTo>
                  <a:cubicBezTo>
                    <a:pt x="25400" y="2408301"/>
                    <a:pt x="712724" y="3095498"/>
                    <a:pt x="1560449" y="3095498"/>
                  </a:cubicBezTo>
                  <a:cubicBezTo>
                    <a:pt x="2408174" y="3095498"/>
                    <a:pt x="3095498" y="2408174"/>
                    <a:pt x="3095498" y="1560449"/>
                  </a:cubicBezTo>
                  <a:lnTo>
                    <a:pt x="3108198" y="1560449"/>
                  </a:lnTo>
                  <a:lnTo>
                    <a:pt x="3095498" y="1560449"/>
                  </a:lnTo>
                  <a:cubicBezTo>
                    <a:pt x="3095498" y="712724"/>
                    <a:pt x="2408301" y="25400"/>
                    <a:pt x="1560449" y="25400"/>
                  </a:cubicBezTo>
                  <a:lnTo>
                    <a:pt x="1560449" y="12700"/>
                  </a:lnTo>
                  <a:lnTo>
                    <a:pt x="1560449" y="25400"/>
                  </a:lnTo>
                  <a:cubicBezTo>
                    <a:pt x="712724" y="25400"/>
                    <a:pt x="25400" y="712724"/>
                    <a:pt x="25400" y="1560449"/>
                  </a:cubicBezTo>
                  <a:close/>
                </a:path>
              </a:pathLst>
            </a:custGeom>
            <a:solidFill>
              <a:srgbClr val="FFCD69"/>
            </a:solidFill>
          </p:spPr>
        </p:sp>
      </p:grpSp>
      <p:pic>
        <p:nvPicPr>
          <p:cNvPr id="25" name="Picture 25"/>
          <p:cNvPicPr>
            <a:picLocks noChangeAspect="1"/>
          </p:cNvPicPr>
          <p:nvPr/>
        </p:nvPicPr>
        <p:blipFill>
          <a:blip r:embed="rId9"/>
          <a:stretch>
            <a:fillRect/>
          </a:stretch>
        </p:blipFill>
        <p:spPr>
          <a:xfrm>
            <a:off x="4029660" y="5849600"/>
            <a:ext cx="2883074" cy="2883074"/>
          </a:xfrm>
          <a:prstGeom prst="rect">
            <a:avLst/>
          </a:prstGeom>
        </p:spPr>
      </p:pic>
      <p:grpSp>
        <p:nvGrpSpPr>
          <p:cNvPr id="26" name="Group 26"/>
          <p:cNvGrpSpPr/>
          <p:nvPr/>
        </p:nvGrpSpPr>
        <p:grpSpPr>
          <a:xfrm>
            <a:off x="4695447" y="6515383"/>
            <a:ext cx="1551508" cy="1551508"/>
            <a:chOff x="0" y="0"/>
            <a:chExt cx="2068678" cy="2068678"/>
          </a:xfrm>
        </p:grpSpPr>
        <p:sp>
          <p:nvSpPr>
            <p:cNvPr id="27" name="Freeform 27"/>
            <p:cNvSpPr/>
            <p:nvPr/>
          </p:nvSpPr>
          <p:spPr>
            <a:xfrm>
              <a:off x="0" y="0"/>
              <a:ext cx="2068576" cy="2068576"/>
            </a:xfrm>
            <a:custGeom>
              <a:avLst/>
              <a:gdLst/>
              <a:ahLst/>
              <a:cxnLst/>
              <a:rect l="l" t="t" r="r" b="b"/>
              <a:pathLst>
                <a:path w="2068576" h="2068576">
                  <a:moveTo>
                    <a:pt x="0" y="1034288"/>
                  </a:moveTo>
                  <a:cubicBezTo>
                    <a:pt x="0" y="463042"/>
                    <a:pt x="463042" y="0"/>
                    <a:pt x="1034288" y="0"/>
                  </a:cubicBezTo>
                  <a:cubicBezTo>
                    <a:pt x="1605534" y="0"/>
                    <a:pt x="2068576" y="463042"/>
                    <a:pt x="2068576" y="1034288"/>
                  </a:cubicBezTo>
                  <a:cubicBezTo>
                    <a:pt x="2068576" y="1605534"/>
                    <a:pt x="1605534" y="2068576"/>
                    <a:pt x="1034288" y="2068576"/>
                  </a:cubicBezTo>
                  <a:cubicBezTo>
                    <a:pt x="463042" y="2068576"/>
                    <a:pt x="0" y="1605534"/>
                    <a:pt x="0" y="1034288"/>
                  </a:cubicBezTo>
                  <a:close/>
                </a:path>
              </a:pathLst>
            </a:custGeom>
            <a:solidFill>
              <a:srgbClr val="FFFFFF"/>
            </a:solidFill>
          </p:spPr>
        </p:sp>
      </p:grpSp>
      <p:grpSp>
        <p:nvGrpSpPr>
          <p:cNvPr id="28" name="Group 28"/>
          <p:cNvGrpSpPr/>
          <p:nvPr/>
        </p:nvGrpSpPr>
        <p:grpSpPr>
          <a:xfrm>
            <a:off x="7110273" y="6120791"/>
            <a:ext cx="2340702" cy="2340702"/>
            <a:chOff x="0" y="0"/>
            <a:chExt cx="3120936" cy="3120936"/>
          </a:xfrm>
        </p:grpSpPr>
        <p:sp>
          <p:nvSpPr>
            <p:cNvPr id="29" name="Freeform 29"/>
            <p:cNvSpPr/>
            <p:nvPr/>
          </p:nvSpPr>
          <p:spPr>
            <a:xfrm>
              <a:off x="0" y="0"/>
              <a:ext cx="3120898" cy="3120898"/>
            </a:xfrm>
            <a:custGeom>
              <a:avLst/>
              <a:gdLst/>
              <a:ahLst/>
              <a:cxnLst/>
              <a:rect l="l" t="t" r="r" b="b"/>
              <a:pathLst>
                <a:path w="3120898" h="3120898">
                  <a:moveTo>
                    <a:pt x="0" y="1560449"/>
                  </a:moveTo>
                  <a:cubicBezTo>
                    <a:pt x="0" y="698627"/>
                    <a:pt x="698627" y="0"/>
                    <a:pt x="1560449" y="0"/>
                  </a:cubicBezTo>
                  <a:lnTo>
                    <a:pt x="1560449" y="12700"/>
                  </a:lnTo>
                  <a:lnTo>
                    <a:pt x="1560449" y="0"/>
                  </a:lnTo>
                  <a:cubicBezTo>
                    <a:pt x="2422271" y="0"/>
                    <a:pt x="3120898" y="698627"/>
                    <a:pt x="3120898" y="1560449"/>
                  </a:cubicBezTo>
                  <a:cubicBezTo>
                    <a:pt x="3120898" y="2422271"/>
                    <a:pt x="2422271" y="3120898"/>
                    <a:pt x="1560449" y="3120898"/>
                  </a:cubicBezTo>
                  <a:lnTo>
                    <a:pt x="1560449" y="3108198"/>
                  </a:lnTo>
                  <a:lnTo>
                    <a:pt x="1560449" y="3120898"/>
                  </a:lnTo>
                  <a:cubicBezTo>
                    <a:pt x="698627" y="3120898"/>
                    <a:pt x="0" y="2422271"/>
                    <a:pt x="0" y="1560449"/>
                  </a:cubicBezTo>
                  <a:lnTo>
                    <a:pt x="12700" y="1560449"/>
                  </a:lnTo>
                  <a:lnTo>
                    <a:pt x="22352" y="1568704"/>
                  </a:lnTo>
                  <a:cubicBezTo>
                    <a:pt x="18923" y="1572768"/>
                    <a:pt x="13335" y="1574165"/>
                    <a:pt x="8255" y="1572387"/>
                  </a:cubicBezTo>
                  <a:cubicBezTo>
                    <a:pt x="3175" y="1570609"/>
                    <a:pt x="0" y="1565783"/>
                    <a:pt x="0" y="1560449"/>
                  </a:cubicBezTo>
                  <a:moveTo>
                    <a:pt x="25400" y="1560449"/>
                  </a:moveTo>
                  <a:lnTo>
                    <a:pt x="12700" y="1560449"/>
                  </a:lnTo>
                  <a:lnTo>
                    <a:pt x="3048" y="1552194"/>
                  </a:lnTo>
                  <a:cubicBezTo>
                    <a:pt x="6477" y="1548130"/>
                    <a:pt x="12065" y="1546733"/>
                    <a:pt x="17145" y="1548511"/>
                  </a:cubicBezTo>
                  <a:cubicBezTo>
                    <a:pt x="22225" y="1550289"/>
                    <a:pt x="25400" y="1555115"/>
                    <a:pt x="25400" y="1560449"/>
                  </a:cubicBezTo>
                  <a:cubicBezTo>
                    <a:pt x="25400" y="2408301"/>
                    <a:pt x="712724" y="3095498"/>
                    <a:pt x="1560449" y="3095498"/>
                  </a:cubicBezTo>
                  <a:cubicBezTo>
                    <a:pt x="2408174" y="3095498"/>
                    <a:pt x="3095498" y="2408174"/>
                    <a:pt x="3095498" y="1560449"/>
                  </a:cubicBezTo>
                  <a:lnTo>
                    <a:pt x="3108198" y="1560449"/>
                  </a:lnTo>
                  <a:lnTo>
                    <a:pt x="3095498" y="1560449"/>
                  </a:lnTo>
                  <a:cubicBezTo>
                    <a:pt x="3095498" y="712724"/>
                    <a:pt x="2408301" y="25400"/>
                    <a:pt x="1560449" y="25400"/>
                  </a:cubicBezTo>
                  <a:lnTo>
                    <a:pt x="1560449" y="12700"/>
                  </a:lnTo>
                  <a:lnTo>
                    <a:pt x="1560449" y="25400"/>
                  </a:lnTo>
                  <a:cubicBezTo>
                    <a:pt x="712724" y="25400"/>
                    <a:pt x="25400" y="712724"/>
                    <a:pt x="25400" y="1560449"/>
                  </a:cubicBezTo>
                  <a:close/>
                </a:path>
              </a:pathLst>
            </a:custGeom>
            <a:solidFill>
              <a:srgbClr val="197962"/>
            </a:solidFill>
          </p:spPr>
        </p:sp>
      </p:grpSp>
      <p:pic>
        <p:nvPicPr>
          <p:cNvPr id="30" name="Picture 30"/>
          <p:cNvPicPr>
            <a:picLocks noChangeAspect="1"/>
          </p:cNvPicPr>
          <p:nvPr/>
        </p:nvPicPr>
        <p:blipFill>
          <a:blip r:embed="rId10"/>
          <a:stretch>
            <a:fillRect/>
          </a:stretch>
        </p:blipFill>
        <p:spPr>
          <a:xfrm>
            <a:off x="6839085" y="5849600"/>
            <a:ext cx="2883074" cy="2883074"/>
          </a:xfrm>
          <a:prstGeom prst="rect">
            <a:avLst/>
          </a:prstGeom>
        </p:spPr>
      </p:pic>
      <p:grpSp>
        <p:nvGrpSpPr>
          <p:cNvPr id="31" name="Group 31"/>
          <p:cNvGrpSpPr/>
          <p:nvPr/>
        </p:nvGrpSpPr>
        <p:grpSpPr>
          <a:xfrm>
            <a:off x="7504865" y="6515383"/>
            <a:ext cx="1551508" cy="1551508"/>
            <a:chOff x="0" y="0"/>
            <a:chExt cx="2068678" cy="2068678"/>
          </a:xfrm>
        </p:grpSpPr>
        <p:sp>
          <p:nvSpPr>
            <p:cNvPr id="32" name="Freeform 32"/>
            <p:cNvSpPr/>
            <p:nvPr/>
          </p:nvSpPr>
          <p:spPr>
            <a:xfrm>
              <a:off x="0" y="0"/>
              <a:ext cx="2068576" cy="2068576"/>
            </a:xfrm>
            <a:custGeom>
              <a:avLst/>
              <a:gdLst/>
              <a:ahLst/>
              <a:cxnLst/>
              <a:rect l="l" t="t" r="r" b="b"/>
              <a:pathLst>
                <a:path w="2068576" h="2068576">
                  <a:moveTo>
                    <a:pt x="0" y="1034288"/>
                  </a:moveTo>
                  <a:cubicBezTo>
                    <a:pt x="0" y="463042"/>
                    <a:pt x="463042" y="0"/>
                    <a:pt x="1034288" y="0"/>
                  </a:cubicBezTo>
                  <a:cubicBezTo>
                    <a:pt x="1605534" y="0"/>
                    <a:pt x="2068576" y="463042"/>
                    <a:pt x="2068576" y="1034288"/>
                  </a:cubicBezTo>
                  <a:cubicBezTo>
                    <a:pt x="2068576" y="1605534"/>
                    <a:pt x="1605534" y="2068576"/>
                    <a:pt x="1034288" y="2068576"/>
                  </a:cubicBezTo>
                  <a:cubicBezTo>
                    <a:pt x="463042" y="2068576"/>
                    <a:pt x="0" y="1605534"/>
                    <a:pt x="0" y="1034288"/>
                  </a:cubicBezTo>
                  <a:close/>
                </a:path>
              </a:pathLst>
            </a:custGeom>
            <a:solidFill>
              <a:srgbClr val="FFFFFF"/>
            </a:solidFill>
          </p:spPr>
        </p:sp>
      </p:grpSp>
      <p:sp>
        <p:nvSpPr>
          <p:cNvPr id="33" name="TextBox 33"/>
          <p:cNvSpPr txBox="1"/>
          <p:nvPr/>
        </p:nvSpPr>
        <p:spPr>
          <a:xfrm>
            <a:off x="709632" y="8539353"/>
            <a:ext cx="3797798" cy="435445"/>
          </a:xfrm>
          <a:prstGeom prst="rect">
            <a:avLst/>
          </a:prstGeom>
        </p:spPr>
        <p:txBody>
          <a:bodyPr lIns="0" tIns="0" rIns="0" bIns="0" rtlCol="0" anchor="t">
            <a:spAutoFit/>
          </a:bodyPr>
          <a:lstStyle/>
          <a:p>
            <a:pPr algn="ctr">
              <a:lnSpc>
                <a:spcPts val="2880"/>
              </a:lnSpc>
            </a:pPr>
            <a:r>
              <a:rPr lang="en-US" sz="2400" b="1">
                <a:solidFill>
                  <a:srgbClr val="2563EB"/>
                </a:solidFill>
                <a:latin typeface="Arimo Bold" panose="020B0704020202020204"/>
                <a:ea typeface="Arimo Bold" panose="020B0704020202020204"/>
                <a:cs typeface="Arimo Bold" panose="020B0704020202020204"/>
                <a:sym typeface="Arimo Bold" panose="020B0704020202020204"/>
              </a:rPr>
              <a:t>购买意向</a:t>
            </a:r>
          </a:p>
        </p:txBody>
      </p:sp>
      <p:sp>
        <p:nvSpPr>
          <p:cNvPr id="34" name="TextBox 34"/>
          <p:cNvSpPr txBox="1"/>
          <p:nvPr/>
        </p:nvSpPr>
        <p:spPr>
          <a:xfrm>
            <a:off x="3570942" y="8539353"/>
            <a:ext cx="3797798" cy="435445"/>
          </a:xfrm>
          <a:prstGeom prst="rect">
            <a:avLst/>
          </a:prstGeom>
        </p:spPr>
        <p:txBody>
          <a:bodyPr lIns="0" tIns="0" rIns="0" bIns="0" rtlCol="0" anchor="t">
            <a:spAutoFit/>
          </a:bodyPr>
          <a:lstStyle/>
          <a:p>
            <a:pPr algn="ctr">
              <a:lnSpc>
                <a:spcPts val="2880"/>
              </a:lnSpc>
            </a:pPr>
            <a:r>
              <a:rPr lang="en-US" sz="2400" b="1">
                <a:solidFill>
                  <a:srgbClr val="7C3AED"/>
                </a:solidFill>
                <a:latin typeface="Arimo Bold" panose="020B0704020202020204"/>
                <a:ea typeface="Arimo Bold" panose="020B0704020202020204"/>
                <a:cs typeface="Arimo Bold" panose="020B0704020202020204"/>
                <a:sym typeface="Arimo Bold" panose="020B0704020202020204"/>
              </a:rPr>
              <a:t>用户画像</a:t>
            </a:r>
          </a:p>
        </p:txBody>
      </p:sp>
      <p:sp>
        <p:nvSpPr>
          <p:cNvPr id="35" name="TextBox 35"/>
          <p:cNvSpPr txBox="1"/>
          <p:nvPr/>
        </p:nvSpPr>
        <p:spPr>
          <a:xfrm>
            <a:off x="971379" y="377200"/>
            <a:ext cx="8437312"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研发背景：晾衣市场</a:t>
            </a:r>
          </a:p>
        </p:txBody>
      </p:sp>
      <p:sp>
        <p:nvSpPr>
          <p:cNvPr id="36" name="TextBox 36"/>
          <p:cNvSpPr txBox="1"/>
          <p:nvPr/>
        </p:nvSpPr>
        <p:spPr>
          <a:xfrm>
            <a:off x="3851005" y="1352998"/>
            <a:ext cx="10363200" cy="762000"/>
          </a:xfrm>
          <a:prstGeom prst="rect">
            <a:avLst/>
          </a:prstGeom>
        </p:spPr>
        <p:txBody>
          <a:bodyPr lIns="0" tIns="0" rIns="0" bIns="0" rtlCol="0" anchor="t">
            <a:spAutoFit/>
          </a:bodyPr>
          <a:lstStyle/>
          <a:p>
            <a:pPr algn="ctr">
              <a:lnSpc>
                <a:spcPts val="5760"/>
              </a:lnSpc>
            </a:pPr>
            <a:r>
              <a:rPr lang="en-US" sz="4800" b="1">
                <a:solidFill>
                  <a:srgbClr val="2563EB"/>
                </a:solidFill>
                <a:latin typeface="Arimo Bold" panose="020B0704020202020204"/>
                <a:ea typeface="Arimo Bold" panose="020B0704020202020204"/>
                <a:cs typeface="Arimo Bold" panose="020B0704020202020204"/>
                <a:sym typeface="Arimo Bold" panose="020B0704020202020204"/>
              </a:rPr>
              <a:t>晾衣市场：显示出行业巨大的增长潜力</a:t>
            </a:r>
          </a:p>
        </p:txBody>
      </p:sp>
      <p:sp>
        <p:nvSpPr>
          <p:cNvPr id="37" name="TextBox 37"/>
          <p:cNvSpPr txBox="1"/>
          <p:nvPr/>
        </p:nvSpPr>
        <p:spPr>
          <a:xfrm>
            <a:off x="2562811" y="2539432"/>
            <a:ext cx="5152072" cy="495300"/>
          </a:xfrm>
          <a:prstGeom prst="rect">
            <a:avLst/>
          </a:prstGeom>
        </p:spPr>
        <p:txBody>
          <a:bodyPr lIns="0" tIns="0" rIns="0" bIns="0" rtlCol="0" anchor="t">
            <a:spAutoFit/>
          </a:bodyPr>
          <a:lstStyle/>
          <a:p>
            <a:pPr algn="l">
              <a:lnSpc>
                <a:spcPts val="3600"/>
              </a:lnSpc>
            </a:pPr>
            <a:r>
              <a:rPr lang="en-US" sz="3000" b="1">
                <a:solidFill>
                  <a:srgbClr val="FFFFFF"/>
                </a:solidFill>
                <a:latin typeface="Arimo Bold" panose="020B0704020202020204"/>
                <a:ea typeface="Arimo Bold" panose="020B0704020202020204"/>
                <a:cs typeface="Arimo Bold" panose="020B0704020202020204"/>
                <a:sym typeface="Arimo Bold" panose="020B0704020202020204"/>
              </a:rPr>
              <a:t>旺盛可持续的解放双手的需求</a:t>
            </a:r>
          </a:p>
        </p:txBody>
      </p:sp>
      <p:sp>
        <p:nvSpPr>
          <p:cNvPr id="38" name="TextBox 38"/>
          <p:cNvSpPr txBox="1"/>
          <p:nvPr/>
        </p:nvSpPr>
        <p:spPr>
          <a:xfrm>
            <a:off x="2562811" y="3033522"/>
            <a:ext cx="6707553" cy="707136"/>
          </a:xfrm>
          <a:prstGeom prst="rect">
            <a:avLst/>
          </a:prstGeom>
        </p:spPr>
        <p:txBody>
          <a:bodyPr lIns="0" tIns="0" rIns="0" bIns="0" rtlCol="0" anchor="t">
            <a:spAutoFit/>
          </a:bodyPr>
          <a:lstStyle/>
          <a:p>
            <a:pPr algn="l">
              <a:lnSpc>
                <a:spcPts val="2590"/>
              </a:lnSpc>
            </a:pPr>
            <a:r>
              <a:rPr lang="en-US" sz="1800">
                <a:solidFill>
                  <a:srgbClr val="FFFFFF">
                    <a:alpha val="51765"/>
                  </a:srgbClr>
                </a:solidFill>
                <a:latin typeface="Arimo" panose="020B0604020202020204"/>
                <a:ea typeface="Arimo" panose="020B0604020202020204"/>
                <a:cs typeface="Arimo" panose="020B0604020202020204"/>
                <a:sym typeface="Arimo" panose="020B0604020202020204"/>
              </a:rPr>
              <a:t>85.7%的调查对象都认为衣物晾晒是家庭日常刚需，使用频率高，传统晾衣方式效率低</a:t>
            </a:r>
          </a:p>
        </p:txBody>
      </p:sp>
      <p:sp>
        <p:nvSpPr>
          <p:cNvPr id="39" name="TextBox 39"/>
          <p:cNvSpPr txBox="1"/>
          <p:nvPr/>
        </p:nvSpPr>
        <p:spPr>
          <a:xfrm>
            <a:off x="2589614" y="4189400"/>
            <a:ext cx="4943180" cy="546821"/>
          </a:xfrm>
          <a:prstGeom prst="rect">
            <a:avLst/>
          </a:prstGeom>
        </p:spPr>
        <p:txBody>
          <a:bodyPr lIns="0" tIns="0" rIns="0" bIns="0" rtlCol="0" anchor="t">
            <a:spAutoFit/>
          </a:bodyPr>
          <a:lstStyle/>
          <a:p>
            <a:pPr algn="l">
              <a:lnSpc>
                <a:spcPts val="3600"/>
              </a:lnSpc>
            </a:pPr>
            <a:r>
              <a:rPr lang="en-US" sz="3000" b="1">
                <a:solidFill>
                  <a:srgbClr val="FFFFFF"/>
                </a:solidFill>
                <a:latin typeface="Arimo Bold" panose="020B0704020202020204"/>
                <a:ea typeface="Arimo Bold" panose="020B0704020202020204"/>
                <a:cs typeface="Arimo Bold" panose="020B0704020202020204"/>
                <a:sym typeface="Arimo Bold" panose="020B0704020202020204"/>
              </a:rPr>
              <a:t>高端化、智能化的市场倾向</a:t>
            </a:r>
          </a:p>
        </p:txBody>
      </p:sp>
      <p:sp>
        <p:nvSpPr>
          <p:cNvPr id="40" name="TextBox 40"/>
          <p:cNvSpPr txBox="1"/>
          <p:nvPr/>
        </p:nvSpPr>
        <p:spPr>
          <a:xfrm>
            <a:off x="2562811" y="4655525"/>
            <a:ext cx="6707543" cy="1030986"/>
          </a:xfrm>
          <a:prstGeom prst="rect">
            <a:avLst/>
          </a:prstGeom>
        </p:spPr>
        <p:txBody>
          <a:bodyPr lIns="0" tIns="0" rIns="0" bIns="0" rtlCol="0" anchor="t">
            <a:spAutoFit/>
          </a:bodyPr>
          <a:lstStyle/>
          <a:p>
            <a:pPr algn="l">
              <a:lnSpc>
                <a:spcPts val="2590"/>
              </a:lnSpc>
            </a:pPr>
            <a:r>
              <a:rPr lang="en-US" sz="1800">
                <a:solidFill>
                  <a:srgbClr val="FFFFFF">
                    <a:alpha val="51765"/>
                  </a:srgbClr>
                </a:solidFill>
                <a:latin typeface="Arimo" panose="020B0604020202020204"/>
                <a:ea typeface="Arimo" panose="020B0604020202020204"/>
                <a:cs typeface="Arimo" panose="020B0604020202020204"/>
                <a:sym typeface="Arimo" panose="020B0604020202020204"/>
              </a:rPr>
              <a:t>随着智能家居逐步普及，用户更关注自动化和便捷性，晾衣设备不再只是“挂衣杆”，而是向“智能晾晒终端”发展。用户希望晾衣架具备自主抓取、升降、晾衣、语音控制、远程控制等复合功能</a:t>
            </a:r>
          </a:p>
        </p:txBody>
      </p:sp>
      <p:sp>
        <p:nvSpPr>
          <p:cNvPr id="41" name="TextBox 41"/>
          <p:cNvSpPr txBox="1"/>
          <p:nvPr/>
        </p:nvSpPr>
        <p:spPr>
          <a:xfrm>
            <a:off x="1526334" y="8876890"/>
            <a:ext cx="2445201" cy="1030986"/>
          </a:xfrm>
          <a:prstGeom prst="rect">
            <a:avLst/>
          </a:prstGeom>
        </p:spPr>
        <p:txBody>
          <a:bodyPr lIns="0" tIns="0" rIns="0" bIns="0" rtlCol="0" anchor="t">
            <a:spAutoFit/>
          </a:bodyPr>
          <a:lstStyle/>
          <a:p>
            <a:pPr algn="ctr">
              <a:lnSpc>
                <a:spcPts val="2590"/>
              </a:lnSpc>
            </a:pPr>
            <a:r>
              <a:rPr lang="en-US" sz="1800">
                <a:solidFill>
                  <a:srgbClr val="183A5A"/>
                </a:solidFill>
                <a:latin typeface="Arimo" panose="020B0604020202020204"/>
                <a:ea typeface="Arimo" panose="020B0604020202020204"/>
                <a:cs typeface="Arimo" panose="020B0604020202020204"/>
                <a:sym typeface="Arimo" panose="020B0604020202020204"/>
              </a:rPr>
              <a:t>98.6%消费者对自动晾衣杆有需求，行业增量空间可观</a:t>
            </a:r>
          </a:p>
        </p:txBody>
      </p:sp>
      <p:sp>
        <p:nvSpPr>
          <p:cNvPr id="42" name="TextBox 42"/>
          <p:cNvSpPr txBox="1"/>
          <p:nvPr/>
        </p:nvSpPr>
        <p:spPr>
          <a:xfrm>
            <a:off x="4335770" y="8876890"/>
            <a:ext cx="2408368" cy="1030986"/>
          </a:xfrm>
          <a:prstGeom prst="rect">
            <a:avLst/>
          </a:prstGeom>
        </p:spPr>
        <p:txBody>
          <a:bodyPr lIns="0" tIns="0" rIns="0" bIns="0" rtlCol="0" anchor="t">
            <a:spAutoFit/>
          </a:bodyPr>
          <a:lstStyle/>
          <a:p>
            <a:pPr algn="ctr">
              <a:lnSpc>
                <a:spcPts val="2590"/>
              </a:lnSpc>
            </a:pPr>
            <a:r>
              <a:rPr lang="en-US" sz="1800">
                <a:solidFill>
                  <a:srgbClr val="183A5A"/>
                </a:solidFill>
                <a:latin typeface="Arimo" panose="020B0604020202020204"/>
                <a:ea typeface="Arimo" panose="020B0604020202020204"/>
                <a:cs typeface="Arimo" panose="020B0604020202020204"/>
                <a:sym typeface="Arimo" panose="020B0604020202020204"/>
              </a:rPr>
              <a:t>超七成消费者分布在三线及以下城市，下沉市场有巨大的增长空间</a:t>
            </a:r>
          </a:p>
        </p:txBody>
      </p:sp>
      <p:sp>
        <p:nvSpPr>
          <p:cNvPr id="43" name="TextBox 43"/>
          <p:cNvSpPr txBox="1"/>
          <p:nvPr/>
        </p:nvSpPr>
        <p:spPr>
          <a:xfrm>
            <a:off x="6328496" y="8539353"/>
            <a:ext cx="3797798" cy="435445"/>
          </a:xfrm>
          <a:prstGeom prst="rect">
            <a:avLst/>
          </a:prstGeom>
        </p:spPr>
        <p:txBody>
          <a:bodyPr lIns="0" tIns="0" rIns="0" bIns="0" rtlCol="0" anchor="t">
            <a:spAutoFit/>
          </a:bodyPr>
          <a:lstStyle/>
          <a:p>
            <a:pPr algn="ctr">
              <a:lnSpc>
                <a:spcPts val="2880"/>
              </a:lnSpc>
            </a:pPr>
            <a:r>
              <a:rPr lang="en-US" sz="2400" b="1">
                <a:solidFill>
                  <a:srgbClr val="2563EB"/>
                </a:solidFill>
                <a:latin typeface="Arimo Bold" panose="020B0704020202020204"/>
                <a:ea typeface="Arimo Bold" panose="020B0704020202020204"/>
                <a:cs typeface="Arimo Bold" panose="020B0704020202020204"/>
                <a:sym typeface="Arimo Bold" panose="020B0704020202020204"/>
              </a:rPr>
              <a:t>价格倾向</a:t>
            </a:r>
          </a:p>
        </p:txBody>
      </p:sp>
      <p:sp>
        <p:nvSpPr>
          <p:cNvPr id="44" name="TextBox 44"/>
          <p:cNvSpPr txBox="1"/>
          <p:nvPr/>
        </p:nvSpPr>
        <p:spPr>
          <a:xfrm>
            <a:off x="7145188" y="8876890"/>
            <a:ext cx="2164394" cy="1129894"/>
          </a:xfrm>
          <a:prstGeom prst="rect">
            <a:avLst/>
          </a:prstGeom>
        </p:spPr>
        <p:txBody>
          <a:bodyPr lIns="0" tIns="0" rIns="0" bIns="0" rtlCol="0" anchor="t">
            <a:spAutoFit/>
          </a:bodyPr>
          <a:lstStyle/>
          <a:p>
            <a:pPr algn="ctr">
              <a:lnSpc>
                <a:spcPts val="2590"/>
              </a:lnSpc>
            </a:pPr>
            <a:r>
              <a:rPr lang="en-US" sz="1800">
                <a:solidFill>
                  <a:srgbClr val="183A5A"/>
                </a:solidFill>
                <a:latin typeface="Arimo" panose="020B0604020202020204"/>
                <a:ea typeface="Arimo" panose="020B0604020202020204"/>
                <a:cs typeface="Arimo" panose="020B0604020202020204"/>
                <a:sym typeface="Arimo" panose="020B0604020202020204"/>
              </a:rPr>
              <a:t>超六成消费者倾向于选择中高端价位的产品，消费需求旺盛</a:t>
            </a:r>
          </a:p>
        </p:txBody>
      </p:sp>
      <p:sp>
        <p:nvSpPr>
          <p:cNvPr id="45" name="TextBox 45"/>
          <p:cNvSpPr txBox="1"/>
          <p:nvPr/>
        </p:nvSpPr>
        <p:spPr>
          <a:xfrm>
            <a:off x="2070090" y="7017722"/>
            <a:ext cx="1183357" cy="476250"/>
          </a:xfrm>
          <a:prstGeom prst="rect">
            <a:avLst/>
          </a:prstGeom>
        </p:spPr>
        <p:txBody>
          <a:bodyPr lIns="0" tIns="0" rIns="0" bIns="0" rtlCol="0" anchor="t">
            <a:spAutoFit/>
          </a:bodyPr>
          <a:lstStyle/>
          <a:p>
            <a:pPr algn="ctr">
              <a:lnSpc>
                <a:spcPts val="3600"/>
              </a:lnSpc>
            </a:pPr>
            <a:r>
              <a:rPr lang="en-US" sz="3000" b="1">
                <a:solidFill>
                  <a:srgbClr val="197962"/>
                </a:solidFill>
                <a:latin typeface="Arial Bold" panose="020B0704020202020204"/>
                <a:ea typeface="Arial Bold" panose="020B0704020202020204"/>
                <a:cs typeface="Arial Bold" panose="020B0704020202020204"/>
                <a:sym typeface="Arial Bold" panose="020B0704020202020204"/>
              </a:rPr>
              <a:t>85.7%</a:t>
            </a:r>
          </a:p>
        </p:txBody>
      </p:sp>
      <p:sp>
        <p:nvSpPr>
          <p:cNvPr id="46" name="TextBox 46"/>
          <p:cNvSpPr txBox="1"/>
          <p:nvPr/>
        </p:nvSpPr>
        <p:spPr>
          <a:xfrm>
            <a:off x="4879518" y="7017722"/>
            <a:ext cx="1183357" cy="476250"/>
          </a:xfrm>
          <a:prstGeom prst="rect">
            <a:avLst/>
          </a:prstGeom>
        </p:spPr>
        <p:txBody>
          <a:bodyPr lIns="0" tIns="0" rIns="0" bIns="0" rtlCol="0" anchor="t">
            <a:spAutoFit/>
          </a:bodyPr>
          <a:lstStyle/>
          <a:p>
            <a:pPr algn="ctr">
              <a:lnSpc>
                <a:spcPts val="3600"/>
              </a:lnSpc>
            </a:pPr>
            <a:r>
              <a:rPr lang="en-US" sz="3000" b="1">
                <a:solidFill>
                  <a:srgbClr val="FFCD69"/>
                </a:solidFill>
                <a:latin typeface="Arial Bold" panose="020B0704020202020204"/>
                <a:ea typeface="Arial Bold" panose="020B0704020202020204"/>
                <a:cs typeface="Arial Bold" panose="020B0704020202020204"/>
                <a:sym typeface="Arial Bold" panose="020B0704020202020204"/>
              </a:rPr>
              <a:t>70.2%</a:t>
            </a:r>
          </a:p>
        </p:txBody>
      </p:sp>
      <p:sp>
        <p:nvSpPr>
          <p:cNvPr id="47" name="TextBox 47"/>
          <p:cNvSpPr txBox="1"/>
          <p:nvPr/>
        </p:nvSpPr>
        <p:spPr>
          <a:xfrm>
            <a:off x="7688945" y="7017722"/>
            <a:ext cx="1183357" cy="476250"/>
          </a:xfrm>
          <a:prstGeom prst="rect">
            <a:avLst/>
          </a:prstGeom>
        </p:spPr>
        <p:txBody>
          <a:bodyPr lIns="0" tIns="0" rIns="0" bIns="0" rtlCol="0" anchor="t">
            <a:spAutoFit/>
          </a:bodyPr>
          <a:lstStyle/>
          <a:p>
            <a:pPr algn="ctr">
              <a:lnSpc>
                <a:spcPts val="3600"/>
              </a:lnSpc>
            </a:pPr>
            <a:r>
              <a:rPr lang="en-US" sz="3000" b="1">
                <a:solidFill>
                  <a:srgbClr val="197962"/>
                </a:solidFill>
                <a:latin typeface="Arial Bold" panose="020B0704020202020204"/>
                <a:ea typeface="Arial Bold" panose="020B0704020202020204"/>
                <a:cs typeface="Arial Bold" panose="020B0704020202020204"/>
                <a:sym typeface="Arial Bold" panose="020B0704020202020204"/>
              </a:rPr>
              <a:t>67.2%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rot="5040">
            <a:off x="1026309" y="1071601"/>
            <a:ext cx="16235382" cy="9525"/>
            <a:chOff x="0" y="0"/>
            <a:chExt cx="21647175" cy="12700"/>
          </a:xfrm>
        </p:grpSpPr>
        <p:sp>
          <p:nvSpPr>
            <p:cNvPr id="9" name="Freeform 9"/>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grpSp>
        <p:nvGrpSpPr>
          <p:cNvPr id="10" name="Group 10"/>
          <p:cNvGrpSpPr/>
          <p:nvPr/>
        </p:nvGrpSpPr>
        <p:grpSpPr>
          <a:xfrm>
            <a:off x="13995111" y="2133838"/>
            <a:ext cx="3558950" cy="7658710"/>
            <a:chOff x="0" y="0"/>
            <a:chExt cx="4745266" cy="10211613"/>
          </a:xfrm>
        </p:grpSpPr>
        <p:sp>
          <p:nvSpPr>
            <p:cNvPr id="11" name="Freeform 11"/>
            <p:cNvSpPr/>
            <p:nvPr/>
          </p:nvSpPr>
          <p:spPr>
            <a:xfrm>
              <a:off x="0" y="0"/>
              <a:ext cx="4745228" cy="10211562"/>
            </a:xfrm>
            <a:custGeom>
              <a:avLst/>
              <a:gdLst/>
              <a:ahLst/>
              <a:cxnLst/>
              <a:rect l="l" t="t" r="r" b="b"/>
              <a:pathLst>
                <a:path w="4745228" h="10211562">
                  <a:moveTo>
                    <a:pt x="0" y="0"/>
                  </a:moveTo>
                  <a:lnTo>
                    <a:pt x="4745228" y="0"/>
                  </a:lnTo>
                  <a:lnTo>
                    <a:pt x="4745228" y="10211562"/>
                  </a:lnTo>
                  <a:lnTo>
                    <a:pt x="0" y="10211562"/>
                  </a:lnTo>
                  <a:lnTo>
                    <a:pt x="0" y="0"/>
                  </a:lnTo>
                  <a:close/>
                </a:path>
              </a:pathLst>
            </a:custGeom>
            <a:blipFill>
              <a:blip r:embed="rId3"/>
              <a:stretch>
                <a:fillRect t="-1572" b="-1573"/>
              </a:stretch>
            </a:blipFill>
          </p:spPr>
        </p:sp>
      </p:grpSp>
      <p:grpSp>
        <p:nvGrpSpPr>
          <p:cNvPr id="12" name="Group 12"/>
          <p:cNvGrpSpPr/>
          <p:nvPr/>
        </p:nvGrpSpPr>
        <p:grpSpPr>
          <a:xfrm>
            <a:off x="9686077" y="2133838"/>
            <a:ext cx="3527993" cy="7658710"/>
            <a:chOff x="0" y="0"/>
            <a:chExt cx="4703991" cy="10211613"/>
          </a:xfrm>
        </p:grpSpPr>
        <p:sp>
          <p:nvSpPr>
            <p:cNvPr id="13" name="Freeform 13"/>
            <p:cNvSpPr/>
            <p:nvPr/>
          </p:nvSpPr>
          <p:spPr>
            <a:xfrm>
              <a:off x="0" y="0"/>
              <a:ext cx="4703953" cy="10211562"/>
            </a:xfrm>
            <a:custGeom>
              <a:avLst/>
              <a:gdLst/>
              <a:ahLst/>
              <a:cxnLst/>
              <a:rect l="l" t="t" r="r" b="b"/>
              <a:pathLst>
                <a:path w="4703953" h="10211562">
                  <a:moveTo>
                    <a:pt x="0" y="0"/>
                  </a:moveTo>
                  <a:lnTo>
                    <a:pt x="4703953" y="0"/>
                  </a:lnTo>
                  <a:lnTo>
                    <a:pt x="4703953" y="10211562"/>
                  </a:lnTo>
                  <a:lnTo>
                    <a:pt x="0" y="10211562"/>
                  </a:lnTo>
                  <a:lnTo>
                    <a:pt x="0" y="0"/>
                  </a:lnTo>
                  <a:close/>
                </a:path>
              </a:pathLst>
            </a:custGeom>
            <a:blipFill>
              <a:blip r:embed="rId4"/>
              <a:stretch>
                <a:fillRect t="-1124" b="-1124"/>
              </a:stretch>
            </a:blipFill>
          </p:spPr>
        </p:sp>
      </p:grpSp>
      <p:grpSp>
        <p:nvGrpSpPr>
          <p:cNvPr id="14" name="Group 14"/>
          <p:cNvGrpSpPr/>
          <p:nvPr/>
        </p:nvGrpSpPr>
        <p:grpSpPr>
          <a:xfrm>
            <a:off x="5464893" y="2133838"/>
            <a:ext cx="3444640" cy="7658710"/>
            <a:chOff x="0" y="0"/>
            <a:chExt cx="4592853" cy="10211613"/>
          </a:xfrm>
        </p:grpSpPr>
        <p:sp>
          <p:nvSpPr>
            <p:cNvPr id="15" name="Freeform 15"/>
            <p:cNvSpPr/>
            <p:nvPr/>
          </p:nvSpPr>
          <p:spPr>
            <a:xfrm>
              <a:off x="0" y="0"/>
              <a:ext cx="4592828" cy="10211562"/>
            </a:xfrm>
            <a:custGeom>
              <a:avLst/>
              <a:gdLst/>
              <a:ahLst/>
              <a:cxnLst/>
              <a:rect l="l" t="t" r="r" b="b"/>
              <a:pathLst>
                <a:path w="4592828" h="10211562">
                  <a:moveTo>
                    <a:pt x="0" y="0"/>
                  </a:moveTo>
                  <a:lnTo>
                    <a:pt x="4592828" y="0"/>
                  </a:lnTo>
                  <a:lnTo>
                    <a:pt x="4592828" y="10211562"/>
                  </a:lnTo>
                  <a:lnTo>
                    <a:pt x="0" y="10211562"/>
                  </a:lnTo>
                  <a:lnTo>
                    <a:pt x="0" y="0"/>
                  </a:lnTo>
                  <a:close/>
                </a:path>
              </a:pathLst>
            </a:custGeom>
            <a:blipFill>
              <a:blip r:embed="rId5"/>
              <a:stretch>
                <a:fillRect/>
              </a:stretch>
            </a:blipFill>
          </p:spPr>
        </p:sp>
      </p:grpSp>
      <p:sp>
        <p:nvSpPr>
          <p:cNvPr id="16" name="TextBox 16"/>
          <p:cNvSpPr txBox="1"/>
          <p:nvPr/>
        </p:nvSpPr>
        <p:spPr>
          <a:xfrm>
            <a:off x="971379" y="377200"/>
            <a:ext cx="2687650"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竞品分析：</a:t>
            </a:r>
          </a:p>
        </p:txBody>
      </p:sp>
      <p:sp>
        <p:nvSpPr>
          <p:cNvPr id="17" name="TextBox 17"/>
          <p:cNvSpPr txBox="1"/>
          <p:nvPr/>
        </p:nvSpPr>
        <p:spPr>
          <a:xfrm>
            <a:off x="1031081" y="3425819"/>
            <a:ext cx="3865645" cy="798195"/>
          </a:xfrm>
          <a:prstGeom prst="rect">
            <a:avLst/>
          </a:prstGeom>
        </p:spPr>
        <p:txBody>
          <a:bodyPr lIns="0" tIns="0" rIns="0" bIns="0" rtlCol="0" anchor="t">
            <a:spAutoFit/>
          </a:bodyPr>
          <a:lstStyle/>
          <a:p>
            <a:pPr algn="l">
              <a:lnSpc>
                <a:spcPts val="6000"/>
              </a:lnSpc>
            </a:pPr>
            <a:r>
              <a:rPr lang="en-US" sz="5000" b="1">
                <a:solidFill>
                  <a:srgbClr val="2563EB"/>
                </a:solidFill>
                <a:latin typeface="Arimo Bold" panose="020B0704020202020204"/>
                <a:ea typeface="Arimo Bold" panose="020B0704020202020204"/>
                <a:cs typeface="Arimo Bold" panose="020B0704020202020204"/>
                <a:sym typeface="Arimo Bold" panose="020B0704020202020204"/>
              </a:rPr>
              <a:t>性价比低！</a:t>
            </a:r>
          </a:p>
        </p:txBody>
      </p:sp>
      <p:sp>
        <p:nvSpPr>
          <p:cNvPr id="18" name="TextBox 18"/>
          <p:cNvSpPr txBox="1"/>
          <p:nvPr/>
        </p:nvSpPr>
        <p:spPr>
          <a:xfrm>
            <a:off x="983799" y="4696835"/>
            <a:ext cx="3369640" cy="2811272"/>
          </a:xfrm>
          <a:prstGeom prst="rect">
            <a:avLst/>
          </a:prstGeom>
        </p:spPr>
        <p:txBody>
          <a:bodyPr lIns="0" tIns="0" rIns="0" bIns="0" rtlCol="0" anchor="t">
            <a:spAutoFit/>
          </a:bodyPr>
          <a:lstStyle/>
          <a:p>
            <a:pPr algn="l">
              <a:lnSpc>
                <a:spcPts val="4435"/>
              </a:lnSpc>
            </a:pPr>
            <a:r>
              <a:rPr lang="en-US" sz="3080">
                <a:solidFill>
                  <a:srgbClr val="183A5A"/>
                </a:solidFill>
                <a:latin typeface="Arimo" panose="020B0604020202020204"/>
                <a:ea typeface="Arimo" panose="020B0604020202020204"/>
                <a:cs typeface="Arimo" panose="020B0604020202020204"/>
                <a:sym typeface="Arimo" panose="020B0604020202020204"/>
              </a:rPr>
              <a:t>一两千价位下，实现的功能局限于将挂好的衣服进行晾晒，</a:t>
            </a:r>
            <a:r>
              <a:rPr lang="en-US" sz="3080">
                <a:solidFill>
                  <a:srgbClr val="D03E25"/>
                </a:solidFill>
                <a:latin typeface="Arimo" panose="020B0604020202020204"/>
                <a:ea typeface="Arimo" panose="020B0604020202020204"/>
                <a:cs typeface="Arimo" panose="020B0604020202020204"/>
                <a:sym typeface="Arimo" panose="020B0604020202020204"/>
              </a:rPr>
              <a:t>仍需人工将衣服挂好</a:t>
            </a:r>
            <a:r>
              <a:rPr lang="en-US" sz="3080">
                <a:solidFill>
                  <a:srgbClr val="183A5A"/>
                </a:solidFill>
                <a:latin typeface="Arimo" panose="020B0604020202020204"/>
                <a:ea typeface="Arimo" panose="020B0604020202020204"/>
                <a:cs typeface="Arimo" panose="020B0604020202020204"/>
                <a:sym typeface="Arimo" panose="020B0604020202020204"/>
              </a:rPr>
              <a:t>。</a:t>
            </a:r>
          </a:p>
        </p:txBody>
      </p:sp>
      <p:sp>
        <p:nvSpPr>
          <p:cNvPr id="19" name="TextBox 19"/>
          <p:cNvSpPr txBox="1"/>
          <p:nvPr/>
        </p:nvSpPr>
        <p:spPr>
          <a:xfrm>
            <a:off x="548640" y="2310130"/>
            <a:ext cx="3865644" cy="642868"/>
          </a:xfrm>
          <a:prstGeom prst="rect">
            <a:avLst/>
          </a:prstGeom>
        </p:spPr>
        <p:txBody>
          <a:bodyPr wrap="square" lIns="0" tIns="0" rIns="0" bIns="0" rtlCol="0" anchor="t">
            <a:spAutoFit/>
          </a:bodyPr>
          <a:lstStyle/>
          <a:p>
            <a:pPr algn="r">
              <a:lnSpc>
                <a:spcPts val="5280"/>
              </a:lnSpc>
            </a:pPr>
            <a:r>
              <a:rPr lang="en-US" sz="4400" b="1" dirty="0" err="1">
                <a:solidFill>
                  <a:srgbClr val="2563EB"/>
                </a:solidFill>
                <a:latin typeface="Arimo Bold" panose="020B0704020202020204"/>
                <a:ea typeface="Arimo Bold" panose="020B0704020202020204"/>
                <a:cs typeface="Arimo Bold" panose="020B0704020202020204"/>
                <a:sym typeface="Arimo Bold" panose="020B0704020202020204"/>
              </a:rPr>
              <a:t>贵、功能单一</a:t>
            </a:r>
            <a:endParaRPr lang="en-US" sz="44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custDataLst>
              <p:tags r:id="rId1"/>
            </p:custDataLst>
          </p:nvPr>
        </p:nvGrpSpPr>
        <p:grpSpPr>
          <a:xfrm>
            <a:off x="5163550" y="2158165"/>
            <a:ext cx="7960890" cy="5970670"/>
            <a:chOff x="0" y="0"/>
            <a:chExt cx="10614520" cy="7960893"/>
          </a:xfrm>
        </p:grpSpPr>
        <p:sp>
          <p:nvSpPr>
            <p:cNvPr id="9" name="Freeform 9"/>
            <p:cNvSpPr/>
            <p:nvPr>
              <p:custDataLst>
                <p:tags r:id="rId34"/>
              </p:custDataLst>
            </p:nvPr>
          </p:nvSpPr>
          <p:spPr>
            <a:xfrm>
              <a:off x="0" y="0"/>
              <a:ext cx="10614533" cy="7960868"/>
            </a:xfrm>
            <a:custGeom>
              <a:avLst/>
              <a:gdLst/>
              <a:ahLst/>
              <a:cxnLst/>
              <a:rect l="l" t="t" r="r" b="b"/>
              <a:pathLst>
                <a:path w="10614533" h="7960868">
                  <a:moveTo>
                    <a:pt x="0" y="0"/>
                  </a:moveTo>
                  <a:lnTo>
                    <a:pt x="10614533" y="0"/>
                  </a:lnTo>
                  <a:lnTo>
                    <a:pt x="10614533" y="7960868"/>
                  </a:lnTo>
                  <a:lnTo>
                    <a:pt x="0" y="7960868"/>
                  </a:lnTo>
                  <a:lnTo>
                    <a:pt x="0" y="0"/>
                  </a:lnTo>
                  <a:close/>
                </a:path>
              </a:pathLst>
            </a:custGeom>
            <a:blipFill rotWithShape="1">
              <a:blip r:embed="rId37"/>
              <a:stretch>
                <a:fillRect t="-32" b="-33"/>
              </a:stretch>
            </a:blipFill>
          </p:spPr>
        </p:sp>
      </p:grpSp>
      <p:grpSp>
        <p:nvGrpSpPr>
          <p:cNvPr id="10" name="Group 10"/>
          <p:cNvGrpSpPr/>
          <p:nvPr/>
        </p:nvGrpSpPr>
        <p:grpSpPr>
          <a:xfrm rot="5040">
            <a:off x="1026309" y="1071601"/>
            <a:ext cx="16235382" cy="9525"/>
            <a:chOff x="0" y="0"/>
            <a:chExt cx="21647175" cy="12700"/>
          </a:xfrm>
        </p:grpSpPr>
        <p:sp>
          <p:nvSpPr>
            <p:cNvPr id="11" name="Freeform 11"/>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sp>
        <p:nvSpPr>
          <p:cNvPr id="12" name="TextBox 12"/>
          <p:cNvSpPr txBox="1"/>
          <p:nvPr>
            <p:custDataLst>
              <p:tags r:id="rId2"/>
            </p:custDataLst>
          </p:nvPr>
        </p:nvSpPr>
        <p:spPr>
          <a:xfrm>
            <a:off x="70485" y="2502535"/>
            <a:ext cx="4605020" cy="1679575"/>
          </a:xfrm>
          <a:prstGeom prst="rect">
            <a:avLst/>
          </a:prstGeom>
        </p:spPr>
        <p:txBody>
          <a:bodyPr wrap="square" lIns="0" tIns="0" rIns="0" bIns="0" rtlCol="0" anchor="t">
            <a:spAutoFit/>
          </a:bodyPr>
          <a:lstStyle/>
          <a:p>
            <a:pPr algn="r">
              <a:lnSpc>
                <a:spcPts val="3275"/>
              </a:lnSpc>
            </a:pPr>
            <a:r>
              <a:rPr lang="zh-CN" altLang="en-US" sz="2100">
                <a:solidFill>
                  <a:srgbClr val="183A5A"/>
                </a:solidFill>
                <a:latin typeface="Arimo" panose="020B0604020202020204"/>
                <a:ea typeface="Arimo" panose="020B0604020202020204"/>
                <a:cs typeface="Arimo" panose="020B0604020202020204"/>
                <a:sym typeface="Arimo" panose="020B0604020202020204"/>
              </a:rPr>
              <a:t>通过视觉识别衣物位置与领口方向，双夹爪夹住衣物肩部两侧并提升；随后闭合式齿轮衣架伸入领口并向两侧撑开，实现“夹取—套入—撑挂”的自动化流程</a:t>
            </a: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13" name="Freeform 13"/>
          <p:cNvSpPr/>
          <p:nvPr>
            <p:custDataLst>
              <p:tags r:id="rId3"/>
            </p:custDataLst>
          </p:nvPr>
        </p:nvSpPr>
        <p:spPr>
          <a:xfrm>
            <a:off x="4675321" y="1845262"/>
            <a:ext cx="1248727" cy="1248727"/>
          </a:xfrm>
          <a:custGeom>
            <a:avLst/>
            <a:gdLst/>
            <a:ahLst/>
            <a:cxnLst/>
            <a:rect l="l" t="t" r="r" b="b"/>
            <a:pathLst>
              <a:path w="1248727" h="1248727">
                <a:moveTo>
                  <a:pt x="0" y="0"/>
                </a:moveTo>
                <a:lnTo>
                  <a:pt x="1248727" y="0"/>
                </a:lnTo>
                <a:lnTo>
                  <a:pt x="1248727" y="1248728"/>
                </a:lnTo>
                <a:lnTo>
                  <a:pt x="0" y="124872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zh-CN" altLang="en-US"/>
          </a:p>
        </p:txBody>
      </p:sp>
      <p:sp>
        <p:nvSpPr>
          <p:cNvPr id="14" name="Freeform 14"/>
          <p:cNvSpPr/>
          <p:nvPr>
            <p:custDataLst>
              <p:tags r:id="rId4"/>
            </p:custDataLst>
          </p:nvPr>
        </p:nvSpPr>
        <p:spPr>
          <a:xfrm>
            <a:off x="4038295" y="1944348"/>
            <a:ext cx="469983" cy="469983"/>
          </a:xfrm>
          <a:custGeom>
            <a:avLst/>
            <a:gdLst/>
            <a:ahLst/>
            <a:cxnLst/>
            <a:rect l="l" t="t" r="r" b="b"/>
            <a:pathLst>
              <a:path w="469983" h="469983">
                <a:moveTo>
                  <a:pt x="0" y="0"/>
                </a:moveTo>
                <a:lnTo>
                  <a:pt x="469983" y="0"/>
                </a:lnTo>
                <a:lnTo>
                  <a:pt x="469983" y="469982"/>
                </a:lnTo>
                <a:lnTo>
                  <a:pt x="0" y="469982"/>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sp>
      <p:sp>
        <p:nvSpPr>
          <p:cNvPr id="17" name="Freeform 17"/>
          <p:cNvSpPr/>
          <p:nvPr>
            <p:custDataLst>
              <p:tags r:id="rId5"/>
            </p:custDataLst>
          </p:nvPr>
        </p:nvSpPr>
        <p:spPr>
          <a:xfrm>
            <a:off x="12420600" y="5574665"/>
            <a:ext cx="1249045" cy="1210310"/>
          </a:xfrm>
          <a:custGeom>
            <a:avLst/>
            <a:gdLst/>
            <a:ahLst/>
            <a:cxnLst/>
            <a:rect l="l" t="t" r="r" b="b"/>
            <a:pathLst>
              <a:path w="1248728" h="1248727">
                <a:moveTo>
                  <a:pt x="0" y="0"/>
                </a:moveTo>
                <a:lnTo>
                  <a:pt x="1248727" y="0"/>
                </a:lnTo>
                <a:lnTo>
                  <a:pt x="1248727" y="1248728"/>
                </a:lnTo>
                <a:lnTo>
                  <a:pt x="0" y="124872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zh-CN" altLang="en-US"/>
          </a:p>
        </p:txBody>
      </p:sp>
      <p:sp>
        <p:nvSpPr>
          <p:cNvPr id="20" name="Freeform 20"/>
          <p:cNvSpPr/>
          <p:nvPr>
            <p:custDataLst>
              <p:tags r:id="rId6"/>
            </p:custDataLst>
          </p:nvPr>
        </p:nvSpPr>
        <p:spPr>
          <a:xfrm>
            <a:off x="13852881" y="5336854"/>
            <a:ext cx="455219" cy="455219"/>
          </a:xfrm>
          <a:custGeom>
            <a:avLst/>
            <a:gdLst/>
            <a:ahLst/>
            <a:cxnLst/>
            <a:rect l="l" t="t" r="r" b="b"/>
            <a:pathLst>
              <a:path w="455219" h="455219">
                <a:moveTo>
                  <a:pt x="0" y="0"/>
                </a:moveTo>
                <a:lnTo>
                  <a:pt x="455218" y="0"/>
                </a:lnTo>
                <a:lnTo>
                  <a:pt x="455218" y="455219"/>
                </a:lnTo>
                <a:lnTo>
                  <a:pt x="0" y="455219"/>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zh-CN" altLang="en-US"/>
          </a:p>
        </p:txBody>
      </p:sp>
      <p:sp>
        <p:nvSpPr>
          <p:cNvPr id="21" name="Freeform 21"/>
          <p:cNvSpPr/>
          <p:nvPr>
            <p:custDataLst>
              <p:tags r:id="rId7"/>
            </p:custDataLst>
          </p:nvPr>
        </p:nvSpPr>
        <p:spPr>
          <a:xfrm>
            <a:off x="12221845" y="1866900"/>
            <a:ext cx="1249045" cy="1247140"/>
          </a:xfrm>
          <a:custGeom>
            <a:avLst/>
            <a:gdLst/>
            <a:ahLst/>
            <a:cxnLst/>
            <a:rect l="l" t="t" r="r" b="b"/>
            <a:pathLst>
              <a:path w="1248728" h="1248727">
                <a:moveTo>
                  <a:pt x="0" y="0"/>
                </a:moveTo>
                <a:lnTo>
                  <a:pt x="1248727" y="0"/>
                </a:lnTo>
                <a:lnTo>
                  <a:pt x="1248727" y="1248728"/>
                </a:lnTo>
                <a:lnTo>
                  <a:pt x="0" y="124872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zh-CN" altLang="en-US"/>
          </a:p>
        </p:txBody>
      </p:sp>
      <p:sp>
        <p:nvSpPr>
          <p:cNvPr id="22" name="Freeform 22"/>
          <p:cNvSpPr/>
          <p:nvPr>
            <p:custDataLst>
              <p:tags r:id="rId8"/>
            </p:custDataLst>
          </p:nvPr>
        </p:nvSpPr>
        <p:spPr>
          <a:xfrm>
            <a:off x="13868375" y="1951222"/>
            <a:ext cx="455219" cy="455219"/>
          </a:xfrm>
          <a:custGeom>
            <a:avLst/>
            <a:gdLst/>
            <a:ahLst/>
            <a:cxnLst/>
            <a:rect l="l" t="t" r="r" b="b"/>
            <a:pathLst>
              <a:path w="455219" h="455219">
                <a:moveTo>
                  <a:pt x="0" y="0"/>
                </a:moveTo>
                <a:lnTo>
                  <a:pt x="455218" y="0"/>
                </a:lnTo>
                <a:lnTo>
                  <a:pt x="455218" y="455218"/>
                </a:lnTo>
                <a:lnTo>
                  <a:pt x="0" y="455218"/>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txBody>
          <a:bodyPr/>
          <a:lstStyle/>
          <a:p>
            <a:endParaRPr lang="zh-CN" altLang="en-US"/>
          </a:p>
        </p:txBody>
      </p:sp>
      <p:sp>
        <p:nvSpPr>
          <p:cNvPr id="23" name="Freeform 23"/>
          <p:cNvSpPr/>
          <p:nvPr>
            <p:custDataLst>
              <p:tags r:id="rId9"/>
            </p:custDataLst>
          </p:nvPr>
        </p:nvSpPr>
        <p:spPr>
          <a:xfrm>
            <a:off x="4419336" y="5522119"/>
            <a:ext cx="1248727" cy="1248727"/>
          </a:xfrm>
          <a:custGeom>
            <a:avLst/>
            <a:gdLst/>
            <a:ahLst/>
            <a:cxnLst/>
            <a:rect l="l" t="t" r="r" b="b"/>
            <a:pathLst>
              <a:path w="1248727" h="1248727">
                <a:moveTo>
                  <a:pt x="0" y="0"/>
                </a:moveTo>
                <a:lnTo>
                  <a:pt x="1248728" y="0"/>
                </a:lnTo>
                <a:lnTo>
                  <a:pt x="1248728" y="1248727"/>
                </a:lnTo>
                <a:lnTo>
                  <a:pt x="0" y="1248727"/>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sp>
      <p:sp>
        <p:nvSpPr>
          <p:cNvPr id="24" name="Freeform 24"/>
          <p:cNvSpPr/>
          <p:nvPr>
            <p:custDataLst>
              <p:tags r:id="rId10"/>
            </p:custDataLst>
          </p:nvPr>
        </p:nvSpPr>
        <p:spPr>
          <a:xfrm>
            <a:off x="4021417" y="5036344"/>
            <a:ext cx="469983" cy="469983"/>
          </a:xfrm>
          <a:custGeom>
            <a:avLst/>
            <a:gdLst/>
            <a:ahLst/>
            <a:cxnLst/>
            <a:rect l="l" t="t" r="r" b="b"/>
            <a:pathLst>
              <a:path w="469983" h="469983">
                <a:moveTo>
                  <a:pt x="0" y="0"/>
                </a:moveTo>
                <a:lnTo>
                  <a:pt x="469982" y="0"/>
                </a:lnTo>
                <a:lnTo>
                  <a:pt x="469982" y="469982"/>
                </a:lnTo>
                <a:lnTo>
                  <a:pt x="0" y="469982"/>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zh-CN" altLang="en-US"/>
          </a:p>
        </p:txBody>
      </p:sp>
      <p:sp>
        <p:nvSpPr>
          <p:cNvPr id="25" name="TextBox 25"/>
          <p:cNvSpPr txBox="1"/>
          <p:nvPr>
            <p:custDataLst>
              <p:tags r:id="rId11"/>
            </p:custDataLst>
          </p:nvPr>
        </p:nvSpPr>
        <p:spPr>
          <a:xfrm>
            <a:off x="4889605" y="2112289"/>
            <a:ext cx="721023" cy="723403"/>
          </a:xfrm>
          <a:prstGeom prst="rect">
            <a:avLst/>
          </a:prstGeom>
        </p:spPr>
        <p:txBody>
          <a:bodyPr lIns="0" tIns="0" rIns="0" bIns="0" rtlCol="0" anchor="t">
            <a:spAutoFit/>
          </a:bodyPr>
          <a:lstStyle/>
          <a:p>
            <a:pPr algn="ctr">
              <a:lnSpc>
                <a:spcPts val="2880"/>
              </a:lnSpc>
            </a:pPr>
            <a:r>
              <a:rPr lang="zh-CN" altLang="en-US" sz="2400" b="1" dirty="0">
                <a:solidFill>
                  <a:srgbClr val="FFFFFF"/>
                </a:solidFill>
                <a:latin typeface="Arimo Bold" panose="020B0704020202020204"/>
                <a:ea typeface="Arimo Bold" panose="020B0704020202020204"/>
                <a:cs typeface="Arimo Bold" panose="020B0704020202020204"/>
                <a:sym typeface="Arimo Bold" panose="020B0704020202020204"/>
              </a:rPr>
              <a:t>智能撑挂</a:t>
            </a:r>
          </a:p>
        </p:txBody>
      </p:sp>
      <p:sp>
        <p:nvSpPr>
          <p:cNvPr id="26" name="TextBox 26"/>
          <p:cNvSpPr txBox="1"/>
          <p:nvPr>
            <p:custDataLst>
              <p:tags r:id="rId12"/>
            </p:custDataLst>
          </p:nvPr>
        </p:nvSpPr>
        <p:spPr>
          <a:xfrm>
            <a:off x="12531223" y="2112289"/>
            <a:ext cx="735130" cy="738505"/>
          </a:xfrm>
          <a:prstGeom prst="rect">
            <a:avLst/>
          </a:prstGeom>
        </p:spPr>
        <p:txBody>
          <a:bodyPr lIns="0" tIns="0" rIns="0" bIns="0" rtlCol="0" anchor="t">
            <a:spAutoFit/>
          </a:bodyPr>
          <a:lstStyle/>
          <a:p>
            <a:pPr algn="ctr">
              <a:lnSpc>
                <a:spcPts val="2880"/>
              </a:lnSpc>
            </a:pPr>
            <a:r>
              <a:rPr lang="zh-CN" altLang="en-US" sz="2400" b="1">
                <a:solidFill>
                  <a:srgbClr val="FFFFFF"/>
                </a:solidFill>
                <a:latin typeface="Arimo Bold" panose="020B0704020202020204"/>
                <a:ea typeface="Arimo Bold" panose="020B0704020202020204"/>
                <a:cs typeface="Arimo Bold" panose="020B0704020202020204"/>
                <a:sym typeface="Arimo Bold" panose="020B0704020202020204"/>
              </a:rPr>
              <a:t>环境感知</a:t>
            </a:r>
            <a:endParaRPr lang="en-US" sz="2400" b="1">
              <a:solidFill>
                <a:srgbClr val="FFFFFF"/>
              </a:solidFill>
              <a:latin typeface="Arimo Bold" panose="020B0704020202020204"/>
              <a:ea typeface="Arimo Bold" panose="020B0704020202020204"/>
              <a:cs typeface="Arimo Bold" panose="020B0704020202020204"/>
              <a:sym typeface="Arimo Bold" panose="020B0704020202020204"/>
            </a:endParaRPr>
          </a:p>
        </p:txBody>
      </p:sp>
      <p:grpSp>
        <p:nvGrpSpPr>
          <p:cNvPr id="27" name="Group 27"/>
          <p:cNvGrpSpPr/>
          <p:nvPr>
            <p:custDataLst>
              <p:tags r:id="rId13"/>
            </p:custDataLst>
          </p:nvPr>
        </p:nvGrpSpPr>
        <p:grpSpPr>
          <a:xfrm rot="10783440">
            <a:off x="1832115" y="4135755"/>
            <a:ext cx="2980411" cy="9525"/>
            <a:chOff x="0" y="0"/>
            <a:chExt cx="3973881" cy="12700"/>
          </a:xfrm>
        </p:grpSpPr>
        <p:sp>
          <p:nvSpPr>
            <p:cNvPr id="28" name="Freeform 28"/>
            <p:cNvSpPr/>
            <p:nvPr>
              <p:custDataLst>
                <p:tags r:id="rId33"/>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grpSp>
        <p:nvGrpSpPr>
          <p:cNvPr id="29" name="Group 29"/>
          <p:cNvGrpSpPr/>
          <p:nvPr>
            <p:custDataLst>
              <p:tags r:id="rId14"/>
            </p:custDataLst>
          </p:nvPr>
        </p:nvGrpSpPr>
        <p:grpSpPr>
          <a:xfrm rot="10783440">
            <a:off x="1694955" y="7267575"/>
            <a:ext cx="2980411" cy="9525"/>
            <a:chOff x="0" y="0"/>
            <a:chExt cx="3973881" cy="12700"/>
          </a:xfrm>
        </p:grpSpPr>
        <p:sp>
          <p:nvSpPr>
            <p:cNvPr id="30" name="Freeform 30"/>
            <p:cNvSpPr/>
            <p:nvPr>
              <p:custDataLst>
                <p:tags r:id="rId32"/>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grpSp>
        <p:nvGrpSpPr>
          <p:cNvPr id="31" name="Group 31"/>
          <p:cNvGrpSpPr/>
          <p:nvPr>
            <p:custDataLst>
              <p:tags r:id="rId15"/>
            </p:custDataLst>
          </p:nvPr>
        </p:nvGrpSpPr>
        <p:grpSpPr>
          <a:xfrm rot="16560">
            <a:off x="13452615" y="4135755"/>
            <a:ext cx="2980411" cy="9525"/>
            <a:chOff x="0" y="0"/>
            <a:chExt cx="3973881" cy="12700"/>
          </a:xfrm>
        </p:grpSpPr>
        <p:sp>
          <p:nvSpPr>
            <p:cNvPr id="32" name="Freeform 32"/>
            <p:cNvSpPr/>
            <p:nvPr>
              <p:custDataLst>
                <p:tags r:id="rId31"/>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grpSp>
        <p:nvGrpSpPr>
          <p:cNvPr id="33" name="Group 33"/>
          <p:cNvGrpSpPr/>
          <p:nvPr>
            <p:custDataLst>
              <p:tags r:id="rId16"/>
            </p:custDataLst>
          </p:nvPr>
        </p:nvGrpSpPr>
        <p:grpSpPr>
          <a:xfrm rot="16560">
            <a:off x="13612635" y="7267575"/>
            <a:ext cx="2980411" cy="9525"/>
            <a:chOff x="0" y="0"/>
            <a:chExt cx="3973881" cy="12700"/>
          </a:xfrm>
        </p:grpSpPr>
        <p:sp>
          <p:nvSpPr>
            <p:cNvPr id="34" name="Freeform 34"/>
            <p:cNvSpPr/>
            <p:nvPr>
              <p:custDataLst>
                <p:tags r:id="rId30"/>
              </p:custDataLst>
            </p:nvPr>
          </p:nvSpPr>
          <p:spPr>
            <a:xfrm>
              <a:off x="0" y="0"/>
              <a:ext cx="3973830" cy="12700"/>
            </a:xfrm>
            <a:custGeom>
              <a:avLst/>
              <a:gdLst/>
              <a:ahLst/>
              <a:cxnLst/>
              <a:rect l="l" t="t" r="r" b="b"/>
              <a:pathLst>
                <a:path w="3973830" h="12700">
                  <a:moveTo>
                    <a:pt x="6350" y="0"/>
                  </a:moveTo>
                  <a:lnTo>
                    <a:pt x="3967480" y="0"/>
                  </a:lnTo>
                  <a:cubicBezTo>
                    <a:pt x="3971036" y="0"/>
                    <a:pt x="3973830" y="2794"/>
                    <a:pt x="3973830" y="6350"/>
                  </a:cubicBezTo>
                  <a:cubicBezTo>
                    <a:pt x="3973830" y="9906"/>
                    <a:pt x="3971036" y="12700"/>
                    <a:pt x="3967480" y="12700"/>
                  </a:cubicBezTo>
                  <a:lnTo>
                    <a:pt x="6350" y="12700"/>
                  </a:lnTo>
                  <a:cubicBezTo>
                    <a:pt x="2794" y="12700"/>
                    <a:pt x="0" y="9906"/>
                    <a:pt x="0" y="6350"/>
                  </a:cubicBezTo>
                  <a:cubicBezTo>
                    <a:pt x="0" y="2794"/>
                    <a:pt x="2794" y="0"/>
                    <a:pt x="6350" y="0"/>
                  </a:cubicBezTo>
                  <a:close/>
                </a:path>
              </a:pathLst>
            </a:custGeom>
            <a:solidFill>
              <a:srgbClr val="000000"/>
            </a:solidFill>
          </p:spPr>
        </p:sp>
      </p:grpSp>
      <p:sp>
        <p:nvSpPr>
          <p:cNvPr id="37" name="Freeform 37"/>
          <p:cNvSpPr/>
          <p:nvPr>
            <p:custDataLst>
              <p:tags r:id="rId17"/>
            </p:custDataLst>
          </p:nvPr>
        </p:nvSpPr>
        <p:spPr>
          <a:xfrm>
            <a:off x="4702197" y="4060031"/>
            <a:ext cx="194120" cy="194120"/>
          </a:xfrm>
          <a:custGeom>
            <a:avLst/>
            <a:gdLst/>
            <a:ahLst/>
            <a:cxnLst/>
            <a:rect l="l" t="t" r="r" b="b"/>
            <a:pathLst>
              <a:path w="194120" h="194120">
                <a:moveTo>
                  <a:pt x="0" y="0"/>
                </a:moveTo>
                <a:lnTo>
                  <a:pt x="194120" y="0"/>
                </a:lnTo>
                <a:lnTo>
                  <a:pt x="194120" y="194120"/>
                </a:lnTo>
                <a:lnTo>
                  <a:pt x="0" y="194120"/>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sp>
      <p:sp>
        <p:nvSpPr>
          <p:cNvPr id="38" name="Freeform 38"/>
          <p:cNvSpPr/>
          <p:nvPr>
            <p:custDataLst>
              <p:tags r:id="rId18"/>
            </p:custDataLst>
          </p:nvPr>
        </p:nvSpPr>
        <p:spPr>
          <a:xfrm>
            <a:off x="4561703"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sp>
      <p:sp>
        <p:nvSpPr>
          <p:cNvPr id="39" name="Freeform 39"/>
          <p:cNvSpPr/>
          <p:nvPr>
            <p:custDataLst>
              <p:tags r:id="rId19"/>
            </p:custDataLst>
          </p:nvPr>
        </p:nvSpPr>
        <p:spPr>
          <a:xfrm>
            <a:off x="13375748" y="4060031"/>
            <a:ext cx="194120" cy="194120"/>
          </a:xfrm>
          <a:custGeom>
            <a:avLst/>
            <a:gdLst/>
            <a:ahLst/>
            <a:cxnLst/>
            <a:rect l="l" t="t" r="r" b="b"/>
            <a:pathLst>
              <a:path w="194120" h="194120">
                <a:moveTo>
                  <a:pt x="0" y="0"/>
                </a:moveTo>
                <a:lnTo>
                  <a:pt x="194119" y="0"/>
                </a:lnTo>
                <a:lnTo>
                  <a:pt x="194119" y="194120"/>
                </a:lnTo>
                <a:lnTo>
                  <a:pt x="0" y="194120"/>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sp>
      <p:sp>
        <p:nvSpPr>
          <p:cNvPr id="40" name="Freeform 40"/>
          <p:cNvSpPr/>
          <p:nvPr>
            <p:custDataLst>
              <p:tags r:id="rId20"/>
            </p:custDataLst>
          </p:nvPr>
        </p:nvSpPr>
        <p:spPr>
          <a:xfrm>
            <a:off x="13516527" y="7177088"/>
            <a:ext cx="194120" cy="194119"/>
          </a:xfrm>
          <a:custGeom>
            <a:avLst/>
            <a:gdLst/>
            <a:ahLst/>
            <a:cxnLst/>
            <a:rect l="l" t="t" r="r" b="b"/>
            <a:pathLst>
              <a:path w="194120" h="194119">
                <a:moveTo>
                  <a:pt x="0" y="0"/>
                </a:moveTo>
                <a:lnTo>
                  <a:pt x="194120" y="0"/>
                </a:lnTo>
                <a:lnTo>
                  <a:pt x="194120" y="194119"/>
                </a:lnTo>
                <a:lnTo>
                  <a:pt x="0" y="194119"/>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sp>
      <p:grpSp>
        <p:nvGrpSpPr>
          <p:cNvPr id="41" name="Group 41"/>
          <p:cNvGrpSpPr/>
          <p:nvPr>
            <p:custDataLst>
              <p:tags r:id="rId21"/>
            </p:custDataLst>
          </p:nvPr>
        </p:nvGrpSpPr>
        <p:grpSpPr>
          <a:xfrm rot="5319420">
            <a:off x="8808787" y="4558541"/>
            <a:ext cx="619296" cy="9525"/>
            <a:chOff x="0" y="0"/>
            <a:chExt cx="825729" cy="12700"/>
          </a:xfrm>
        </p:grpSpPr>
        <p:sp>
          <p:nvSpPr>
            <p:cNvPr id="42" name="Freeform 42"/>
            <p:cNvSpPr/>
            <p:nvPr>
              <p:custDataLst>
                <p:tags r:id="rId29"/>
              </p:custDataLst>
            </p:nvPr>
          </p:nvSpPr>
          <p:spPr>
            <a:xfrm>
              <a:off x="0" y="0"/>
              <a:ext cx="825754" cy="12700"/>
            </a:xfrm>
            <a:custGeom>
              <a:avLst/>
              <a:gdLst/>
              <a:ahLst/>
              <a:cxnLst/>
              <a:rect l="l" t="t" r="r" b="b"/>
              <a:pathLst>
                <a:path w="825754" h="12700">
                  <a:moveTo>
                    <a:pt x="6350" y="0"/>
                  </a:moveTo>
                  <a:lnTo>
                    <a:pt x="819404" y="0"/>
                  </a:lnTo>
                  <a:cubicBezTo>
                    <a:pt x="822960" y="0"/>
                    <a:pt x="825754" y="2794"/>
                    <a:pt x="825754" y="6350"/>
                  </a:cubicBezTo>
                  <a:cubicBezTo>
                    <a:pt x="825754" y="9906"/>
                    <a:pt x="822960" y="12700"/>
                    <a:pt x="819404" y="12700"/>
                  </a:cubicBezTo>
                  <a:lnTo>
                    <a:pt x="6350" y="12700"/>
                  </a:lnTo>
                  <a:cubicBezTo>
                    <a:pt x="2794" y="12700"/>
                    <a:pt x="0" y="9906"/>
                    <a:pt x="0" y="6350"/>
                  </a:cubicBezTo>
                  <a:cubicBezTo>
                    <a:pt x="0" y="2794"/>
                    <a:pt x="2794" y="0"/>
                    <a:pt x="6350" y="0"/>
                  </a:cubicBezTo>
                  <a:close/>
                </a:path>
              </a:pathLst>
            </a:custGeom>
            <a:solidFill>
              <a:srgbClr val="1D3557"/>
            </a:solidFill>
          </p:spPr>
        </p:sp>
      </p:grpSp>
      <p:sp>
        <p:nvSpPr>
          <p:cNvPr id="43" name="TextBox 43"/>
          <p:cNvSpPr txBox="1"/>
          <p:nvPr/>
        </p:nvSpPr>
        <p:spPr>
          <a:xfrm>
            <a:off x="971550" y="377190"/>
            <a:ext cx="5912485" cy="553720"/>
          </a:xfrm>
          <a:prstGeom prst="rect">
            <a:avLst/>
          </a:prstGeom>
        </p:spPr>
        <p:txBody>
          <a:bodyPr wrap="square" lIns="0" tIns="0" rIns="0" bIns="0" rtlCol="0" anchor="t">
            <a:spAutoFit/>
          </a:bodyPr>
          <a:lstStyle/>
          <a:p>
            <a:pPr algn="l">
              <a:lnSpc>
                <a:spcPts val="4320"/>
              </a:lnSpc>
            </a:pPr>
            <a:r>
              <a:rPr lang="zh-CN" altLang="en-US" sz="3600" b="1">
                <a:solidFill>
                  <a:srgbClr val="2563EB"/>
                </a:solidFill>
                <a:latin typeface="Arimo Bold" panose="020B0704020202020204"/>
                <a:ea typeface="Arimo Bold" panose="020B0704020202020204"/>
                <a:cs typeface="Arimo Bold" panose="020B0704020202020204"/>
                <a:sym typeface="Arimo Bold" panose="020B0704020202020204"/>
              </a:rPr>
              <a:t>功能展示</a:t>
            </a: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：智能晾衣系统</a:t>
            </a:r>
          </a:p>
        </p:txBody>
      </p:sp>
      <p:sp>
        <p:nvSpPr>
          <p:cNvPr id="46" name="TextBox 46"/>
          <p:cNvSpPr txBox="1"/>
          <p:nvPr>
            <p:custDataLst>
              <p:tags r:id="rId22"/>
            </p:custDataLst>
          </p:nvPr>
        </p:nvSpPr>
        <p:spPr>
          <a:xfrm>
            <a:off x="13868349" y="5905259"/>
            <a:ext cx="4220261" cy="875538"/>
          </a:xfrm>
          <a:prstGeom prst="rect">
            <a:avLst/>
          </a:prstGeom>
        </p:spPr>
        <p:txBody>
          <a:bodyPr lIns="0" tIns="0" rIns="0" bIns="0" rtlCol="0" anchor="t">
            <a:spAutoFit/>
          </a:bodyPr>
          <a:lstStyle/>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配套手机APP、遥控器或语音模块</a:t>
            </a:r>
          </a:p>
          <a:p>
            <a:pPr algn="l">
              <a:lnSpc>
                <a:spcPts val="3275"/>
              </a:lnSpc>
            </a:pPr>
            <a:r>
              <a:rPr lang="en-US" sz="2100">
                <a:solidFill>
                  <a:srgbClr val="183A5A"/>
                </a:solidFill>
                <a:latin typeface="Arimo" panose="020B0604020202020204"/>
                <a:ea typeface="Arimo" panose="020B0604020202020204"/>
                <a:cs typeface="Arimo" panose="020B0604020202020204"/>
                <a:sym typeface="Arimo" panose="020B0604020202020204"/>
              </a:rPr>
              <a:t>支持远程控制与状态查看</a:t>
            </a:r>
          </a:p>
        </p:txBody>
      </p:sp>
      <p:sp>
        <p:nvSpPr>
          <p:cNvPr id="47" name="TextBox 47"/>
          <p:cNvSpPr txBox="1"/>
          <p:nvPr>
            <p:custDataLst>
              <p:tags r:id="rId23"/>
            </p:custDataLst>
          </p:nvPr>
        </p:nvSpPr>
        <p:spPr>
          <a:xfrm>
            <a:off x="152400" y="5600433"/>
            <a:ext cx="4065480" cy="1259840"/>
          </a:xfrm>
          <a:prstGeom prst="rect">
            <a:avLst/>
          </a:prstGeom>
        </p:spPr>
        <p:txBody>
          <a:bodyPr lIns="0" tIns="0" rIns="0" bIns="0" rtlCol="0" anchor="t">
            <a:spAutoFit/>
          </a:bodyPr>
          <a:lstStyle/>
          <a:p>
            <a:pPr algn="r">
              <a:lnSpc>
                <a:spcPts val="3275"/>
              </a:lnSpc>
            </a:pPr>
            <a:r>
              <a:rPr lang="zh-CN" altLang="en-US" sz="2100">
                <a:solidFill>
                  <a:srgbClr val="183A5A"/>
                </a:solidFill>
                <a:latin typeface="Arimo" panose="020B0604020202020204"/>
                <a:ea typeface="Arimo" panose="020B0604020202020204"/>
                <a:cs typeface="Arimo" panose="020B0604020202020204"/>
                <a:sym typeface="Arimo" panose="020B0604020202020204"/>
              </a:rPr>
              <a:t>将升降、晾晒、收衣等流程集成控制，支持一键启动和多模式运行，实现晾晒过程的自动化与高效化。</a:t>
            </a: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48" name="TextBox 48"/>
          <p:cNvSpPr txBox="1"/>
          <p:nvPr>
            <p:custDataLst>
              <p:tags r:id="rId24"/>
            </p:custDataLst>
          </p:nvPr>
        </p:nvSpPr>
        <p:spPr>
          <a:xfrm>
            <a:off x="13563819" y="2374592"/>
            <a:ext cx="4249636" cy="1679575"/>
          </a:xfrm>
          <a:prstGeom prst="rect">
            <a:avLst/>
          </a:prstGeom>
        </p:spPr>
        <p:txBody>
          <a:bodyPr lIns="0" tIns="0" rIns="0" bIns="0" rtlCol="0" anchor="t">
            <a:spAutoFit/>
          </a:bodyPr>
          <a:lstStyle/>
          <a:p>
            <a:pPr algn="just">
              <a:lnSpc>
                <a:spcPts val="3275"/>
              </a:lnSpc>
            </a:pPr>
            <a:r>
              <a:rPr lang="zh-CN" altLang="en-US" sz="2100">
                <a:solidFill>
                  <a:srgbClr val="183A5A"/>
                </a:solidFill>
                <a:latin typeface="Arimo" panose="020B0604020202020204"/>
                <a:ea typeface="Arimo" panose="020B0604020202020204"/>
                <a:cs typeface="Arimo" panose="020B0604020202020204"/>
                <a:sym typeface="Arimo" panose="020B0604020202020204"/>
              </a:rPr>
              <a:t>结合天气与环境信息，判断衣物晾晒状态；在降雨、大风、高湿等情况下，辅助用户及时收衣，提升衣物洁净度与安全性。</a:t>
            </a:r>
            <a:endParaRPr lang="en-US" sz="2100">
              <a:solidFill>
                <a:srgbClr val="183A5A"/>
              </a:solidFill>
              <a:latin typeface="Arimo" panose="020B0604020202020204"/>
              <a:ea typeface="Arimo" panose="020B0604020202020204"/>
              <a:cs typeface="Arimo" panose="020B0604020202020204"/>
              <a:sym typeface="Arimo" panose="020B0604020202020204"/>
            </a:endParaRPr>
          </a:p>
        </p:txBody>
      </p:sp>
      <p:sp>
        <p:nvSpPr>
          <p:cNvPr id="49" name="TextBox 49"/>
          <p:cNvSpPr txBox="1"/>
          <p:nvPr>
            <p:custDataLst>
              <p:tags r:id="rId25"/>
            </p:custDataLst>
          </p:nvPr>
        </p:nvSpPr>
        <p:spPr>
          <a:xfrm>
            <a:off x="4648225" y="5752951"/>
            <a:ext cx="721023" cy="738505"/>
          </a:xfrm>
          <a:prstGeom prst="rect">
            <a:avLst/>
          </a:prstGeom>
        </p:spPr>
        <p:txBody>
          <a:bodyPr lIns="0" tIns="0" rIns="0" bIns="0" rtlCol="0" anchor="t">
            <a:spAutoFit/>
          </a:bodyPr>
          <a:lstStyle/>
          <a:p>
            <a:pPr algn="ctr">
              <a:lnSpc>
                <a:spcPts val="2880"/>
              </a:lnSpc>
            </a:pPr>
            <a:r>
              <a:rPr lang="zh-CN" altLang="en-US" sz="2400" b="1">
                <a:solidFill>
                  <a:srgbClr val="FFFFFF"/>
                </a:solidFill>
                <a:latin typeface="Arimo Bold" panose="020B0704020202020204"/>
                <a:ea typeface="Arimo Bold" panose="020B0704020202020204"/>
                <a:cs typeface="Arimo Bold" panose="020B0704020202020204"/>
                <a:sym typeface="Arimo Bold" panose="020B0704020202020204"/>
              </a:rPr>
              <a:t>系统集成</a:t>
            </a:r>
          </a:p>
        </p:txBody>
      </p:sp>
      <p:sp>
        <p:nvSpPr>
          <p:cNvPr id="51" name="TextBox 51"/>
          <p:cNvSpPr txBox="1"/>
          <p:nvPr>
            <p:custDataLst>
              <p:tags r:id="rId26"/>
            </p:custDataLst>
          </p:nvPr>
        </p:nvSpPr>
        <p:spPr>
          <a:xfrm>
            <a:off x="12608271" y="5791838"/>
            <a:ext cx="832495" cy="804777"/>
          </a:xfrm>
          <a:prstGeom prst="rect">
            <a:avLst/>
          </a:prstGeom>
        </p:spPr>
        <p:txBody>
          <a:bodyPr lIns="0" tIns="0" rIns="0" bIns="0" rtlCol="0" anchor="t">
            <a:spAutoFit/>
          </a:bodyPr>
          <a:lstStyle/>
          <a:p>
            <a:pPr algn="ctr">
              <a:lnSpc>
                <a:spcPts val="2880"/>
              </a:lnSpc>
            </a:pPr>
            <a:r>
              <a:rPr lang="en-US" sz="2400" b="1">
                <a:solidFill>
                  <a:srgbClr val="FFFFFF"/>
                </a:solidFill>
                <a:latin typeface="Arimo Bold" panose="020B0704020202020204"/>
                <a:ea typeface="Arimo Bold" panose="020B0704020202020204"/>
                <a:cs typeface="Arimo Bold" panose="020B0704020202020204"/>
                <a:sym typeface="Arimo Bold" panose="020B0704020202020204"/>
              </a:rPr>
              <a:t>智能交互</a:t>
            </a:r>
          </a:p>
        </p:txBody>
      </p:sp>
      <p:sp>
        <p:nvSpPr>
          <p:cNvPr id="54" name="TextBox 54"/>
          <p:cNvSpPr txBox="1"/>
          <p:nvPr/>
        </p:nvSpPr>
        <p:spPr>
          <a:xfrm>
            <a:off x="3657600" y="8618855"/>
            <a:ext cx="11122660" cy="415290"/>
          </a:xfrm>
          <a:prstGeom prst="rect">
            <a:avLst/>
          </a:prstGeom>
        </p:spPr>
        <p:txBody>
          <a:bodyPr wrap="square" lIns="0" tIns="0" rIns="0" bIns="0" rtlCol="0" anchor="t">
            <a:spAutoFit/>
          </a:bodyPr>
          <a:lstStyle/>
          <a:p>
            <a:pPr algn="ctr">
              <a:lnSpc>
                <a:spcPts val="3240"/>
              </a:lnSpc>
            </a:pPr>
            <a:r>
              <a:rPr lang="zh-CN" altLang="en-US" sz="2700">
                <a:solidFill>
                  <a:srgbClr val="183A5A"/>
                </a:solidFill>
                <a:latin typeface="Arimo" panose="020B0604020202020204"/>
                <a:ea typeface="Arimo" panose="020B0604020202020204"/>
                <a:cs typeface="Arimo" panose="020B0604020202020204"/>
                <a:sym typeface="Arimo" panose="020B0604020202020204"/>
              </a:rPr>
              <a:t>以智能夹取为核心，完成衣物从挂取、晾晒到收回的自动化流程</a:t>
            </a:r>
            <a:endParaRPr lang="en-US" sz="2700">
              <a:solidFill>
                <a:srgbClr val="183A5A"/>
              </a:solidFill>
              <a:latin typeface="Arimo" panose="020B0604020202020204"/>
              <a:ea typeface="Arimo" panose="020B0604020202020204"/>
              <a:cs typeface="Arimo" panose="020B0604020202020204"/>
              <a:sym typeface="Arimo" panose="020B0604020202020204"/>
            </a:endParaRPr>
          </a:p>
        </p:txBody>
      </p:sp>
      <p:grpSp>
        <p:nvGrpSpPr>
          <p:cNvPr id="58" name="Group 58"/>
          <p:cNvGrpSpPr/>
          <p:nvPr/>
        </p:nvGrpSpPr>
        <p:grpSpPr>
          <a:xfrm>
            <a:off x="3734010" y="8420414"/>
            <a:ext cx="1607125" cy="1607125"/>
            <a:chOff x="0" y="0"/>
            <a:chExt cx="2142833" cy="2142833"/>
          </a:xfrm>
        </p:grpSpPr>
        <p:sp>
          <p:nvSpPr>
            <p:cNvPr id="59" name="Freeform 59"/>
            <p:cNvSpPr/>
            <p:nvPr/>
          </p:nvSpPr>
          <p:spPr>
            <a:xfrm>
              <a:off x="0" y="0"/>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sp>
      </p:grpSp>
      <p:grpSp>
        <p:nvGrpSpPr>
          <p:cNvPr id="66" name="Group 66"/>
          <p:cNvGrpSpPr/>
          <p:nvPr>
            <p:custDataLst>
              <p:tags r:id="rId27"/>
            </p:custDataLst>
          </p:nvPr>
        </p:nvGrpSpPr>
        <p:grpSpPr>
          <a:xfrm>
            <a:off x="8229346" y="1302493"/>
            <a:ext cx="1607058" cy="1607058"/>
            <a:chOff x="-5159586" y="-623993"/>
            <a:chExt cx="2142744" cy="2142744"/>
          </a:xfrm>
        </p:grpSpPr>
        <p:sp>
          <p:nvSpPr>
            <p:cNvPr id="67" name="Freeform 67"/>
            <p:cNvSpPr/>
            <p:nvPr>
              <p:custDataLst>
                <p:tags r:id="rId28"/>
              </p:custDataLst>
            </p:nvPr>
          </p:nvSpPr>
          <p:spPr>
            <a:xfrm>
              <a:off x="-5159586" y="-623993"/>
              <a:ext cx="2142744" cy="2142744"/>
            </a:xfrm>
            <a:custGeom>
              <a:avLst/>
              <a:gdLst/>
              <a:ahLst/>
              <a:cxnLst/>
              <a:rect l="l" t="t" r="r" b="b"/>
              <a:pathLst>
                <a:path w="2142744" h="2142744">
                  <a:moveTo>
                    <a:pt x="0" y="1071372"/>
                  </a:moveTo>
                  <a:cubicBezTo>
                    <a:pt x="0" y="479679"/>
                    <a:pt x="479679" y="0"/>
                    <a:pt x="1071372" y="0"/>
                  </a:cubicBezTo>
                  <a:cubicBezTo>
                    <a:pt x="1663065" y="0"/>
                    <a:pt x="2142744" y="479679"/>
                    <a:pt x="2142744" y="1071372"/>
                  </a:cubicBezTo>
                  <a:cubicBezTo>
                    <a:pt x="2142744" y="1663065"/>
                    <a:pt x="1663065" y="2142744"/>
                    <a:pt x="1071372" y="2142744"/>
                  </a:cubicBezTo>
                  <a:cubicBezTo>
                    <a:pt x="479679" y="2142744"/>
                    <a:pt x="0" y="1663192"/>
                    <a:pt x="0" y="1071372"/>
                  </a:cubicBezTo>
                  <a:close/>
                </a:path>
              </a:pathLst>
            </a:custGeom>
            <a:solidFill>
              <a:srgbClr val="197962">
                <a:alpha val="0"/>
              </a:srgbClr>
            </a:solidFill>
          </p:spPr>
          <p:txBody>
            <a:bodyPr/>
            <a:lstStyle/>
            <a:p>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28575" y="6907654"/>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a:off x="10175301" y="243493"/>
            <a:ext cx="8115300" cy="7820434"/>
            <a:chOff x="0" y="0"/>
            <a:chExt cx="15068194" cy="14520698"/>
          </a:xfrm>
        </p:grpSpPr>
        <p:sp>
          <p:nvSpPr>
            <p:cNvPr id="13" name="Freeform 13"/>
            <p:cNvSpPr/>
            <p:nvPr/>
          </p:nvSpPr>
          <p:spPr>
            <a:xfrm>
              <a:off x="0" y="0"/>
              <a:ext cx="15068111" cy="14520627"/>
            </a:xfrm>
            <a:custGeom>
              <a:avLst/>
              <a:gdLst/>
              <a:ahLst/>
              <a:cxnLst/>
              <a:rect l="l" t="t" r="r" b="b"/>
              <a:pathLst>
                <a:path w="15068111" h="14520627">
                  <a:moveTo>
                    <a:pt x="0" y="0"/>
                  </a:moveTo>
                  <a:lnTo>
                    <a:pt x="15068111" y="0"/>
                  </a:lnTo>
                  <a:lnTo>
                    <a:pt x="15068111" y="14520627"/>
                  </a:lnTo>
                  <a:lnTo>
                    <a:pt x="0" y="14520627"/>
                  </a:lnTo>
                  <a:lnTo>
                    <a:pt x="0" y="0"/>
                  </a:lnTo>
                  <a:close/>
                </a:path>
              </a:pathLst>
            </a:custGeom>
            <a:blipFill>
              <a:blip r:embed="rId3"/>
              <a:stretch>
                <a:fillRect l="-14269" r="-14269"/>
              </a:stretch>
            </a:blipFill>
          </p:spPr>
        </p:sp>
      </p:grpSp>
      <p:sp>
        <p:nvSpPr>
          <p:cNvPr id="14" name="Freeform 14"/>
          <p:cNvSpPr/>
          <p:nvPr/>
        </p:nvSpPr>
        <p:spPr>
          <a:xfrm>
            <a:off x="-157259" y="1149576"/>
            <a:ext cx="10358579" cy="6914351"/>
          </a:xfrm>
          <a:custGeom>
            <a:avLst/>
            <a:gdLst/>
            <a:ahLst/>
            <a:cxnLst/>
            <a:rect l="l" t="t" r="r" b="b"/>
            <a:pathLst>
              <a:path w="10358579" h="6914351">
                <a:moveTo>
                  <a:pt x="0" y="0"/>
                </a:moveTo>
                <a:lnTo>
                  <a:pt x="10358579" y="0"/>
                </a:lnTo>
                <a:lnTo>
                  <a:pt x="10358579" y="6914352"/>
                </a:lnTo>
                <a:lnTo>
                  <a:pt x="0" y="6914352"/>
                </a:lnTo>
                <a:lnTo>
                  <a:pt x="0" y="0"/>
                </a:lnTo>
                <a:close/>
              </a:path>
            </a:pathLst>
          </a:custGeom>
          <a:blipFill>
            <a:blip r:embed="rId4"/>
            <a:stretch>
              <a:fillRect/>
            </a:stretch>
          </a:blipFill>
        </p:spPr>
      </p:sp>
      <p:grpSp>
        <p:nvGrpSpPr>
          <p:cNvPr id="15" name="Group 15"/>
          <p:cNvGrpSpPr/>
          <p:nvPr/>
        </p:nvGrpSpPr>
        <p:grpSpPr>
          <a:xfrm rot="5040">
            <a:off x="1026309" y="1071601"/>
            <a:ext cx="16235382" cy="9525"/>
            <a:chOff x="0" y="0"/>
            <a:chExt cx="21647175" cy="12700"/>
          </a:xfrm>
        </p:grpSpPr>
        <p:sp>
          <p:nvSpPr>
            <p:cNvPr id="16" name="Freeform 16"/>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sp>
        <p:nvSpPr>
          <p:cNvPr id="17" name="AutoShape 17"/>
          <p:cNvSpPr/>
          <p:nvPr/>
        </p:nvSpPr>
        <p:spPr>
          <a:xfrm>
            <a:off x="9206260" y="2687751"/>
            <a:ext cx="6323008" cy="584675"/>
          </a:xfrm>
          <a:prstGeom prst="line">
            <a:avLst/>
          </a:prstGeom>
          <a:ln w="38100" cap="flat">
            <a:solidFill>
              <a:srgbClr val="000000"/>
            </a:solidFill>
            <a:prstDash val="solid"/>
            <a:headEnd type="none" w="sm" len="sm"/>
            <a:tailEnd type="triangle" w="lg" len="med"/>
          </a:ln>
        </p:spPr>
      </p:sp>
      <p:sp>
        <p:nvSpPr>
          <p:cNvPr id="18" name="TextBox 18"/>
          <p:cNvSpPr txBox="1"/>
          <p:nvPr/>
        </p:nvSpPr>
        <p:spPr>
          <a:xfrm>
            <a:off x="8166979" y="2051481"/>
            <a:ext cx="2078561" cy="636270"/>
          </a:xfrm>
          <a:prstGeom prst="rect">
            <a:avLst/>
          </a:prstGeom>
        </p:spPr>
        <p:txBody>
          <a:bodyPr lIns="0" tIns="0" rIns="0" bIns="0" rtlCol="0" anchor="t">
            <a:spAutoFit/>
          </a:bodyPr>
          <a:lstStyle/>
          <a:p>
            <a:pPr marL="0" lvl="0" indent="0" algn="r">
              <a:lnSpc>
                <a:spcPts val="4810"/>
              </a:lnSpc>
              <a:spcBef>
                <a:spcPct val="0"/>
              </a:spcBef>
            </a:pPr>
            <a:r>
              <a:rPr lang="en-US" sz="4010" b="1">
                <a:solidFill>
                  <a:srgbClr val="4CC9F0"/>
                </a:solidFill>
                <a:latin typeface="Arimo Bold" panose="020B0704020202020204"/>
                <a:ea typeface="Arimo Bold" panose="020B0704020202020204"/>
                <a:cs typeface="Arimo Bold" panose="020B0704020202020204"/>
                <a:sym typeface="Arimo Bold" panose="020B0704020202020204"/>
              </a:rPr>
              <a:t>感知层</a:t>
            </a:r>
          </a:p>
        </p:txBody>
      </p:sp>
      <p:sp>
        <p:nvSpPr>
          <p:cNvPr id="19" name="TextBox 19"/>
          <p:cNvSpPr txBox="1"/>
          <p:nvPr/>
        </p:nvSpPr>
        <p:spPr>
          <a:xfrm>
            <a:off x="8717681" y="3272464"/>
            <a:ext cx="1884776" cy="628694"/>
          </a:xfrm>
          <a:prstGeom prst="rect">
            <a:avLst/>
          </a:prstGeom>
        </p:spPr>
        <p:txBody>
          <a:bodyPr wrap="square" lIns="0" tIns="0" rIns="0" bIns="0" rtlCol="0" anchor="t">
            <a:spAutoFit/>
          </a:bodyPr>
          <a:lstStyle/>
          <a:p>
            <a:pPr marL="0" lvl="0" indent="0" algn="r">
              <a:lnSpc>
                <a:spcPts val="4810"/>
              </a:lnSpc>
              <a:spcBef>
                <a:spcPct val="0"/>
              </a:spcBef>
            </a:pPr>
            <a:r>
              <a:rPr lang="en-US" sz="4010" b="1" dirty="0" err="1">
                <a:solidFill>
                  <a:srgbClr val="4CC9F0"/>
                </a:solidFill>
                <a:latin typeface="Arimo Bold" panose="020B0704020202020204"/>
                <a:ea typeface="Arimo Bold" panose="020B0704020202020204"/>
                <a:cs typeface="Arimo Bold" panose="020B0704020202020204"/>
                <a:sym typeface="Arimo Bold" panose="020B0704020202020204"/>
              </a:rPr>
              <a:t>控制层</a:t>
            </a:r>
            <a:endParaRPr lang="en-US" sz="4010" b="1"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0" name="TextBox 20"/>
          <p:cNvSpPr txBox="1"/>
          <p:nvPr/>
        </p:nvSpPr>
        <p:spPr>
          <a:xfrm>
            <a:off x="8712480" y="5195148"/>
            <a:ext cx="1884776" cy="628694"/>
          </a:xfrm>
          <a:prstGeom prst="rect">
            <a:avLst/>
          </a:prstGeom>
        </p:spPr>
        <p:txBody>
          <a:bodyPr wrap="square" lIns="0" tIns="0" rIns="0" bIns="0" rtlCol="0" anchor="t">
            <a:spAutoFit/>
          </a:bodyPr>
          <a:lstStyle/>
          <a:p>
            <a:pPr marL="0" lvl="0" indent="0" algn="r">
              <a:lnSpc>
                <a:spcPts val="4810"/>
              </a:lnSpc>
              <a:spcBef>
                <a:spcPct val="0"/>
              </a:spcBef>
            </a:pPr>
            <a:r>
              <a:rPr lang="en-US" sz="4010" b="1" dirty="0" err="1">
                <a:solidFill>
                  <a:srgbClr val="4CC9F0"/>
                </a:solidFill>
                <a:latin typeface="Arimo Bold" panose="020B0704020202020204"/>
                <a:ea typeface="Arimo Bold" panose="020B0704020202020204"/>
                <a:cs typeface="Arimo Bold" panose="020B0704020202020204"/>
                <a:sym typeface="Arimo Bold" panose="020B0704020202020204"/>
              </a:rPr>
              <a:t>执行层</a:t>
            </a:r>
            <a:endParaRPr lang="en-US" sz="4010" b="1"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1" name="AutoShape 21"/>
          <p:cNvSpPr/>
          <p:nvPr/>
        </p:nvSpPr>
        <p:spPr>
          <a:xfrm flipV="1">
            <a:off x="9206260" y="1308753"/>
            <a:ext cx="5058380" cy="1378998"/>
          </a:xfrm>
          <a:prstGeom prst="line">
            <a:avLst/>
          </a:prstGeom>
          <a:ln w="38100" cap="flat">
            <a:solidFill>
              <a:srgbClr val="000000"/>
            </a:solidFill>
            <a:prstDash val="solid"/>
            <a:headEnd type="none" w="sm" len="sm"/>
            <a:tailEnd type="triangle" w="lg" len="med"/>
          </a:ln>
        </p:spPr>
      </p:sp>
      <p:sp>
        <p:nvSpPr>
          <p:cNvPr id="22" name="AutoShape 22"/>
          <p:cNvSpPr/>
          <p:nvPr/>
        </p:nvSpPr>
        <p:spPr>
          <a:xfrm flipV="1">
            <a:off x="9481611" y="1146406"/>
            <a:ext cx="6047657" cy="2145109"/>
          </a:xfrm>
          <a:prstGeom prst="line">
            <a:avLst/>
          </a:prstGeom>
          <a:ln w="38100" cap="flat">
            <a:solidFill>
              <a:srgbClr val="000000"/>
            </a:solidFill>
            <a:prstDash val="solid"/>
            <a:headEnd type="none" w="sm" len="sm"/>
            <a:tailEnd type="triangle" w="lg" len="med"/>
          </a:ln>
        </p:spPr>
      </p:sp>
      <p:sp>
        <p:nvSpPr>
          <p:cNvPr id="23" name="AutoShape 23"/>
          <p:cNvSpPr/>
          <p:nvPr/>
        </p:nvSpPr>
        <p:spPr>
          <a:xfrm flipH="1">
            <a:off x="7069740" y="5823842"/>
            <a:ext cx="2406670" cy="1083812"/>
          </a:xfrm>
          <a:prstGeom prst="line">
            <a:avLst/>
          </a:prstGeom>
          <a:ln w="38100" cap="flat">
            <a:solidFill>
              <a:srgbClr val="000000"/>
            </a:solidFill>
            <a:prstDash val="solid"/>
            <a:headEnd type="none" w="sm" len="sm"/>
            <a:tailEnd type="triangle" w="lg" len="med"/>
          </a:ln>
        </p:spPr>
      </p:sp>
      <p:sp>
        <p:nvSpPr>
          <p:cNvPr id="24" name="AutoShape 24"/>
          <p:cNvSpPr/>
          <p:nvPr/>
        </p:nvSpPr>
        <p:spPr>
          <a:xfrm flipH="1" flipV="1">
            <a:off x="4402131" y="3809926"/>
            <a:ext cx="5074279" cy="1404272"/>
          </a:xfrm>
          <a:prstGeom prst="line">
            <a:avLst/>
          </a:prstGeom>
          <a:ln w="38100" cap="flat">
            <a:solidFill>
              <a:srgbClr val="000000"/>
            </a:solidFill>
            <a:prstDash val="solid"/>
            <a:headEnd type="none" w="sm" len="sm"/>
            <a:tailEnd type="triangle" w="lg" len="med"/>
          </a:ln>
        </p:spPr>
      </p:sp>
      <p:sp>
        <p:nvSpPr>
          <p:cNvPr id="25" name="AutoShape 25"/>
          <p:cNvSpPr/>
          <p:nvPr/>
        </p:nvSpPr>
        <p:spPr>
          <a:xfrm flipH="1" flipV="1">
            <a:off x="6575224" y="3682101"/>
            <a:ext cx="2901186" cy="1532097"/>
          </a:xfrm>
          <a:prstGeom prst="line">
            <a:avLst/>
          </a:prstGeom>
          <a:ln w="38100" cap="flat">
            <a:solidFill>
              <a:srgbClr val="000000"/>
            </a:solidFill>
            <a:prstDash val="solid"/>
            <a:headEnd type="none" w="sm" len="sm"/>
            <a:tailEnd type="triangle" w="lg" len="med"/>
          </a:ln>
        </p:spPr>
      </p:sp>
      <p:sp>
        <p:nvSpPr>
          <p:cNvPr id="26" name="AutoShape 26"/>
          <p:cNvSpPr/>
          <p:nvPr/>
        </p:nvSpPr>
        <p:spPr>
          <a:xfrm flipH="1" flipV="1">
            <a:off x="6437995" y="2912349"/>
            <a:ext cx="3038415" cy="2301849"/>
          </a:xfrm>
          <a:prstGeom prst="line">
            <a:avLst/>
          </a:prstGeom>
          <a:ln w="38100" cap="flat">
            <a:solidFill>
              <a:srgbClr val="000000"/>
            </a:solidFill>
            <a:prstDash val="solid"/>
            <a:headEnd type="none" w="sm" len="sm"/>
            <a:tailEnd type="triangle" w="lg" len="med"/>
          </a:ln>
        </p:spPr>
      </p:sp>
      <p:sp>
        <p:nvSpPr>
          <p:cNvPr id="27" name="TextBox 27"/>
          <p:cNvSpPr txBox="1"/>
          <p:nvPr/>
        </p:nvSpPr>
        <p:spPr>
          <a:xfrm>
            <a:off x="971379" y="434821"/>
            <a:ext cx="10933233"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整体机构:</a:t>
            </a:r>
          </a:p>
        </p:txBody>
      </p:sp>
      <p:sp>
        <p:nvSpPr>
          <p:cNvPr id="28" name="TextBox 28"/>
          <p:cNvSpPr txBox="1"/>
          <p:nvPr/>
        </p:nvSpPr>
        <p:spPr>
          <a:xfrm>
            <a:off x="2708996" y="9220200"/>
            <a:ext cx="3386271" cy="731491"/>
          </a:xfrm>
          <a:prstGeom prst="rect">
            <a:avLst/>
          </a:prstGeom>
        </p:spPr>
        <p:txBody>
          <a:bodyPr lIns="0" tIns="0" rIns="0" bIns="0" rtlCol="0" anchor="t">
            <a:spAutoFit/>
          </a:bodyPr>
          <a:lstStyle/>
          <a:p>
            <a:pPr algn="r">
              <a:lnSpc>
                <a:spcPts val="5040"/>
              </a:lnSpc>
            </a:pPr>
            <a:r>
              <a:rPr lang="en-US" sz="4200" b="1">
                <a:solidFill>
                  <a:srgbClr val="7C3AED"/>
                </a:solidFill>
                <a:latin typeface="Arimo Bold" panose="020B0704020202020204"/>
                <a:ea typeface="Arimo Bold" panose="020B0704020202020204"/>
                <a:cs typeface="Arimo Bold" panose="020B0704020202020204"/>
                <a:sym typeface="Arimo Bold" panose="020B0704020202020204"/>
              </a:rPr>
              <a:t>三维结构模型</a:t>
            </a:r>
          </a:p>
        </p:txBody>
      </p:sp>
      <p:sp>
        <p:nvSpPr>
          <p:cNvPr id="29" name="TextBox 29"/>
          <p:cNvSpPr txBox="1"/>
          <p:nvPr/>
        </p:nvSpPr>
        <p:spPr>
          <a:xfrm>
            <a:off x="12085415" y="9220200"/>
            <a:ext cx="2473623" cy="731491"/>
          </a:xfrm>
          <a:prstGeom prst="rect">
            <a:avLst/>
          </a:prstGeom>
        </p:spPr>
        <p:txBody>
          <a:bodyPr lIns="0" tIns="0" rIns="0" bIns="0" rtlCol="0" anchor="t">
            <a:spAutoFit/>
          </a:bodyPr>
          <a:lstStyle/>
          <a:p>
            <a:pPr algn="r">
              <a:lnSpc>
                <a:spcPts val="5040"/>
              </a:lnSpc>
            </a:pPr>
            <a:r>
              <a:rPr lang="en-US" sz="4200" b="1">
                <a:solidFill>
                  <a:srgbClr val="7C3AED"/>
                </a:solidFill>
                <a:latin typeface="Arimo Bold" panose="020B0704020202020204"/>
                <a:ea typeface="Arimo Bold" panose="020B0704020202020204"/>
                <a:cs typeface="Arimo Bold" panose="020B0704020202020204"/>
                <a:sym typeface="Arimo Bold" panose="020B0704020202020204"/>
              </a:rPr>
              <a:t>原理样机</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0" y="6924761"/>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grpSp>
        <p:nvGrpSpPr>
          <p:cNvPr id="14" name="Group 14"/>
          <p:cNvGrpSpPr/>
          <p:nvPr/>
        </p:nvGrpSpPr>
        <p:grpSpPr>
          <a:xfrm rot="5328960">
            <a:off x="17245051" y="4213812"/>
            <a:ext cx="1401832" cy="19050"/>
            <a:chOff x="0" y="0"/>
            <a:chExt cx="1869110" cy="25400"/>
          </a:xfrm>
        </p:grpSpPr>
        <p:sp>
          <p:nvSpPr>
            <p:cNvPr id="15" name="Freeform 15"/>
            <p:cNvSpPr/>
            <p:nvPr/>
          </p:nvSpPr>
          <p:spPr>
            <a:xfrm>
              <a:off x="0" y="0"/>
              <a:ext cx="1869059" cy="25400"/>
            </a:xfrm>
            <a:custGeom>
              <a:avLst/>
              <a:gdLst/>
              <a:ahLst/>
              <a:cxnLst/>
              <a:rect l="l" t="t" r="r" b="b"/>
              <a:pathLst>
                <a:path w="1869059" h="25400">
                  <a:moveTo>
                    <a:pt x="12700" y="0"/>
                  </a:moveTo>
                  <a:lnTo>
                    <a:pt x="1856359" y="0"/>
                  </a:lnTo>
                  <a:cubicBezTo>
                    <a:pt x="1863344" y="0"/>
                    <a:pt x="1869059" y="5715"/>
                    <a:pt x="1869059" y="12700"/>
                  </a:cubicBezTo>
                  <a:cubicBezTo>
                    <a:pt x="1869059" y="19685"/>
                    <a:pt x="1863344" y="25400"/>
                    <a:pt x="1856359" y="25400"/>
                  </a:cubicBezTo>
                  <a:lnTo>
                    <a:pt x="12700" y="25400"/>
                  </a:lnTo>
                  <a:cubicBezTo>
                    <a:pt x="5715" y="25400"/>
                    <a:pt x="0" y="19685"/>
                    <a:pt x="0" y="12700"/>
                  </a:cubicBezTo>
                  <a:cubicBezTo>
                    <a:pt x="0" y="5715"/>
                    <a:pt x="5715" y="0"/>
                    <a:pt x="12700" y="0"/>
                  </a:cubicBezTo>
                  <a:close/>
                </a:path>
              </a:pathLst>
            </a:custGeom>
            <a:solidFill>
              <a:srgbClr val="FFFFFF"/>
            </a:solidFill>
          </p:spPr>
        </p:sp>
      </p:grpSp>
      <p:sp>
        <p:nvSpPr>
          <p:cNvPr id="16" name="Freeform 16"/>
          <p:cNvSpPr/>
          <p:nvPr/>
        </p:nvSpPr>
        <p:spPr>
          <a:xfrm>
            <a:off x="800927" y="1468330"/>
            <a:ext cx="9074454" cy="5313870"/>
          </a:xfrm>
          <a:custGeom>
            <a:avLst/>
            <a:gdLst/>
            <a:ahLst/>
            <a:cxnLst/>
            <a:rect l="l" t="t" r="r" b="b"/>
            <a:pathLst>
              <a:path w="9074454" h="5313870">
                <a:moveTo>
                  <a:pt x="0" y="0"/>
                </a:moveTo>
                <a:lnTo>
                  <a:pt x="9074454" y="0"/>
                </a:lnTo>
                <a:lnTo>
                  <a:pt x="9074454" y="5313870"/>
                </a:lnTo>
                <a:lnTo>
                  <a:pt x="0" y="5313870"/>
                </a:lnTo>
                <a:lnTo>
                  <a:pt x="0" y="0"/>
                </a:lnTo>
                <a:close/>
              </a:path>
            </a:pathLst>
          </a:custGeom>
          <a:blipFill>
            <a:blip r:embed="rId3"/>
            <a:stretch>
              <a:fillRect/>
            </a:stretch>
          </a:blipFill>
        </p:spPr>
      </p:sp>
      <p:sp>
        <p:nvSpPr>
          <p:cNvPr id="17" name="TextBox 17"/>
          <p:cNvSpPr txBox="1"/>
          <p:nvPr/>
        </p:nvSpPr>
        <p:spPr>
          <a:xfrm>
            <a:off x="971379" y="377200"/>
            <a:ext cx="6400800"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功能设计与创新：智能底盘控制</a:t>
            </a:r>
          </a:p>
        </p:txBody>
      </p:sp>
      <p:sp>
        <p:nvSpPr>
          <p:cNvPr id="18" name="TextBox 18"/>
          <p:cNvSpPr txBox="1"/>
          <p:nvPr/>
        </p:nvSpPr>
        <p:spPr>
          <a:xfrm>
            <a:off x="9982200" y="3347589"/>
            <a:ext cx="7120723" cy="628694"/>
          </a:xfrm>
          <a:prstGeom prst="rect">
            <a:avLst/>
          </a:prstGeom>
        </p:spPr>
        <p:txBody>
          <a:bodyPr wrap="square" lIns="0" tIns="0" rIns="0" bIns="0" rtlCol="0" anchor="t">
            <a:spAutoFit/>
          </a:bodyPr>
          <a:lstStyle/>
          <a:p>
            <a:pPr algn="r">
              <a:lnSpc>
                <a:spcPts val="4810"/>
              </a:lnSpc>
            </a:pPr>
            <a:r>
              <a:rPr lang="en-US" sz="4010" b="1" dirty="0" err="1">
                <a:solidFill>
                  <a:srgbClr val="4CC9F0"/>
                </a:solidFill>
                <a:latin typeface="Arimo Bold" panose="020B0704020202020204"/>
                <a:ea typeface="Arimo Bold" panose="020B0704020202020204"/>
                <a:cs typeface="Arimo Bold" panose="020B0704020202020204"/>
                <a:sym typeface="Arimo Bold" panose="020B0704020202020204"/>
              </a:rPr>
              <a:t>视觉引导下的精准移动与转向</a:t>
            </a:r>
            <a:endParaRPr lang="en-US" sz="4010" b="1"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19" name="TextBox 19"/>
          <p:cNvSpPr txBox="1"/>
          <p:nvPr/>
        </p:nvSpPr>
        <p:spPr>
          <a:xfrm>
            <a:off x="10852889" y="4905251"/>
            <a:ext cx="5166979" cy="85725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根据视觉识别结果生成运动参数</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实现衣物领口与夹爪自动对准</a:t>
            </a:r>
          </a:p>
        </p:txBody>
      </p:sp>
      <p:sp>
        <p:nvSpPr>
          <p:cNvPr id="20" name="TextBox 20"/>
          <p:cNvSpPr txBox="1"/>
          <p:nvPr/>
        </p:nvSpPr>
        <p:spPr>
          <a:xfrm>
            <a:off x="399136" y="7373511"/>
            <a:ext cx="17715690" cy="2083587"/>
          </a:xfrm>
          <a:prstGeom prst="rect">
            <a:avLst/>
          </a:prstGeom>
        </p:spPr>
        <p:txBody>
          <a:bodyPr lIns="0" tIns="0" rIns="0" bIns="0" rtlCol="0" anchor="t">
            <a:spAutoFit/>
          </a:bodyPr>
          <a:lstStyle/>
          <a:p>
            <a:pPr algn="l">
              <a:lnSpc>
                <a:spcPts val="4155"/>
              </a:lnSpc>
            </a:pPr>
            <a:r>
              <a:rPr lang="en-US" sz="2885" b="1">
                <a:solidFill>
                  <a:srgbClr val="E0F2FE"/>
                </a:solidFill>
                <a:latin typeface="Arial Bold" panose="020B0704020202020204"/>
                <a:ea typeface="Arial Bold" panose="020B0704020202020204"/>
                <a:cs typeface="Arial Bold" panose="020B0704020202020204"/>
                <a:sym typeface="Arial Bold" panose="020B0704020202020204"/>
              </a:rPr>
              <a:t>本系统采用双轮+前后万向轮结构，通过视觉模块识别衣物位置与领口方向，并计算出平台所需的运动参数。控制系统将运动信息发送至平台后，平台根据指令完成前后、左右移动及原地转向等动作，从而调整衣物姿态，使衣物领口准确对准上方夹爪位置。该设计提高了衣物抓取前的定位精度，为后续自动夹取与晾晒过程提供稳定可靠的运动基础。</a:t>
            </a:r>
          </a:p>
        </p:txBody>
      </p:sp>
      <p:sp>
        <p:nvSpPr>
          <p:cNvPr id="21" name="TextBox 21"/>
          <p:cNvSpPr txBox="1"/>
          <p:nvPr/>
        </p:nvSpPr>
        <p:spPr>
          <a:xfrm>
            <a:off x="10628178" y="1439755"/>
            <a:ext cx="6096000" cy="942975"/>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双轮万向平台设计</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0" y="6932905"/>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grpSp>
        <p:nvGrpSpPr>
          <p:cNvPr id="14" name="Group 14"/>
          <p:cNvGrpSpPr/>
          <p:nvPr/>
        </p:nvGrpSpPr>
        <p:grpSpPr>
          <a:xfrm>
            <a:off x="15169010" y="5117240"/>
            <a:ext cx="23832" cy="7265660"/>
            <a:chOff x="0" y="0"/>
            <a:chExt cx="31775" cy="9687547"/>
          </a:xfrm>
        </p:grpSpPr>
        <p:sp>
          <p:nvSpPr>
            <p:cNvPr id="15" name="Freeform 15"/>
            <p:cNvSpPr/>
            <p:nvPr/>
          </p:nvSpPr>
          <p:spPr>
            <a:xfrm>
              <a:off x="0" y="0"/>
              <a:ext cx="31750" cy="9687560"/>
            </a:xfrm>
            <a:custGeom>
              <a:avLst/>
              <a:gdLst/>
              <a:ahLst/>
              <a:cxnLst/>
              <a:rect l="l" t="t" r="r" b="b"/>
              <a:pathLst>
                <a:path w="31750" h="9687560">
                  <a:moveTo>
                    <a:pt x="12700" y="6350"/>
                  </a:moveTo>
                  <a:lnTo>
                    <a:pt x="31750" y="9681210"/>
                  </a:lnTo>
                  <a:cubicBezTo>
                    <a:pt x="31750" y="9684766"/>
                    <a:pt x="28956" y="9687560"/>
                    <a:pt x="25400" y="9687560"/>
                  </a:cubicBezTo>
                  <a:cubicBezTo>
                    <a:pt x="21844" y="9687560"/>
                    <a:pt x="19050" y="9684766"/>
                    <a:pt x="19050" y="9681210"/>
                  </a:cubicBezTo>
                  <a:lnTo>
                    <a:pt x="0" y="6350"/>
                  </a:lnTo>
                  <a:cubicBezTo>
                    <a:pt x="0" y="2794"/>
                    <a:pt x="2794" y="0"/>
                    <a:pt x="6350" y="0"/>
                  </a:cubicBezTo>
                  <a:cubicBezTo>
                    <a:pt x="9906" y="0"/>
                    <a:pt x="12700" y="2794"/>
                    <a:pt x="12700" y="6350"/>
                  </a:cubicBezTo>
                  <a:close/>
                </a:path>
              </a:pathLst>
            </a:custGeom>
            <a:solidFill>
              <a:srgbClr val="FFFFFF"/>
            </a:solidFill>
          </p:spPr>
        </p:sp>
      </p:grpSp>
      <p:grpSp>
        <p:nvGrpSpPr>
          <p:cNvPr id="16" name="Group 16"/>
          <p:cNvGrpSpPr/>
          <p:nvPr/>
        </p:nvGrpSpPr>
        <p:grpSpPr>
          <a:xfrm>
            <a:off x="14024496" y="2848223"/>
            <a:ext cx="47625" cy="1401537"/>
            <a:chOff x="0" y="0"/>
            <a:chExt cx="63500" cy="1868716"/>
          </a:xfrm>
        </p:grpSpPr>
        <p:sp>
          <p:nvSpPr>
            <p:cNvPr id="17" name="Freeform 17"/>
            <p:cNvSpPr/>
            <p:nvPr/>
          </p:nvSpPr>
          <p:spPr>
            <a:xfrm>
              <a:off x="-2" y="-2"/>
              <a:ext cx="63504" cy="1868682"/>
            </a:xfrm>
            <a:custGeom>
              <a:avLst/>
              <a:gdLst/>
              <a:ahLst/>
              <a:cxnLst/>
              <a:rect l="l" t="t" r="r" b="b"/>
              <a:pathLst>
                <a:path w="63504" h="1868682">
                  <a:moveTo>
                    <a:pt x="25402" y="12448"/>
                  </a:moveTo>
                  <a:lnTo>
                    <a:pt x="63502" y="1855726"/>
                  </a:lnTo>
                  <a:cubicBezTo>
                    <a:pt x="63629" y="1862711"/>
                    <a:pt x="58041" y="1868553"/>
                    <a:pt x="51056" y="1868680"/>
                  </a:cubicBezTo>
                  <a:cubicBezTo>
                    <a:pt x="44071" y="1868807"/>
                    <a:pt x="38229" y="1863219"/>
                    <a:pt x="38102" y="1856234"/>
                  </a:cubicBezTo>
                  <a:lnTo>
                    <a:pt x="2" y="12956"/>
                  </a:lnTo>
                  <a:cubicBezTo>
                    <a:pt x="-125" y="5971"/>
                    <a:pt x="5463" y="129"/>
                    <a:pt x="12448" y="2"/>
                  </a:cubicBezTo>
                  <a:cubicBezTo>
                    <a:pt x="19433" y="-125"/>
                    <a:pt x="25275" y="5463"/>
                    <a:pt x="25402" y="12448"/>
                  </a:cubicBezTo>
                  <a:close/>
                </a:path>
              </a:pathLst>
            </a:custGeom>
            <a:solidFill>
              <a:srgbClr val="FFFFFF"/>
            </a:solidFill>
          </p:spPr>
        </p:sp>
      </p:grpSp>
      <p:pic>
        <p:nvPicPr>
          <p:cNvPr id="18" name="Picture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a:stretch>
            <a:fillRect/>
          </a:stretch>
        </p:blipFill>
        <p:spPr>
          <a:xfrm>
            <a:off x="0" y="1207327"/>
            <a:ext cx="5813578" cy="8294984"/>
          </a:xfrm>
          <a:prstGeom prst="rect">
            <a:avLst/>
          </a:prstGeom>
        </p:spPr>
      </p:pic>
      <p:pic>
        <p:nvPicPr>
          <p:cNvPr id="19" name="Picture 19">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rcRect/>
          <a:stretch>
            <a:fillRect/>
          </a:stretch>
        </p:blipFill>
        <p:spPr>
          <a:xfrm>
            <a:off x="5813578" y="3572579"/>
            <a:ext cx="5719703" cy="3360325"/>
          </a:xfrm>
          <a:prstGeom prst="rect">
            <a:avLst/>
          </a:prstGeom>
        </p:spPr>
      </p:pic>
      <p:sp>
        <p:nvSpPr>
          <p:cNvPr id="20" name="TextBox 20"/>
          <p:cNvSpPr txBox="1"/>
          <p:nvPr/>
        </p:nvSpPr>
        <p:spPr>
          <a:xfrm>
            <a:off x="971379" y="377200"/>
            <a:ext cx="10933233"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功能设计与实现：衣物抓取</a:t>
            </a:r>
          </a:p>
        </p:txBody>
      </p:sp>
      <p:sp>
        <p:nvSpPr>
          <p:cNvPr id="21" name="TextBox 21"/>
          <p:cNvSpPr txBox="1"/>
          <p:nvPr/>
        </p:nvSpPr>
        <p:spPr>
          <a:xfrm>
            <a:off x="9406591" y="2635050"/>
            <a:ext cx="6151133"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可自适应衣物种类及尺寸</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2" name="TextBox 22"/>
          <p:cNvSpPr txBox="1"/>
          <p:nvPr/>
        </p:nvSpPr>
        <p:spPr>
          <a:xfrm>
            <a:off x="11904612" y="4338437"/>
            <a:ext cx="2934224" cy="500663"/>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增加产品普适程度</a:t>
            </a:r>
          </a:p>
        </p:txBody>
      </p:sp>
      <p:sp>
        <p:nvSpPr>
          <p:cNvPr id="23" name="TextBox 23"/>
          <p:cNvSpPr txBox="1"/>
          <p:nvPr/>
        </p:nvSpPr>
        <p:spPr>
          <a:xfrm>
            <a:off x="6437995" y="7336326"/>
            <a:ext cx="9747729" cy="2165985"/>
          </a:xfrm>
          <a:prstGeom prst="rect">
            <a:avLst/>
          </a:prstGeom>
        </p:spPr>
        <p:txBody>
          <a:bodyPr lIns="0" tIns="0" rIns="0" bIns="0" rtlCol="0" anchor="t">
            <a:spAutoFit/>
          </a:bodyPr>
          <a:lstStyle/>
          <a:p>
            <a:pPr algn="l">
              <a:lnSpc>
                <a:spcPts val="4320"/>
              </a:lnSpc>
            </a:pPr>
            <a:r>
              <a:rPr lang="en-US" sz="3000" b="1">
                <a:solidFill>
                  <a:srgbClr val="E0F2FE"/>
                </a:solidFill>
                <a:latin typeface="Arimo Bold" panose="020B0704020202020204"/>
                <a:ea typeface="Arimo Bold" panose="020B0704020202020204"/>
                <a:cs typeface="Arimo Bold" panose="020B0704020202020204"/>
                <a:sym typeface="Arimo Bold" panose="020B0704020202020204"/>
              </a:rPr>
              <a:t>    采用双夹爪协同底座运动夹持设计与丝杆机构螺实现竖直升降，实现不同衣物夹取与底座平台的高精度定位与夹持的自适应，以保证在随机衣物摆放下，实现衣物的高精度协同自适应地夹取。</a:t>
            </a:r>
          </a:p>
        </p:txBody>
      </p:sp>
      <p:sp>
        <p:nvSpPr>
          <p:cNvPr id="24" name="TextBox 24"/>
          <p:cNvSpPr txBox="1"/>
          <p:nvPr/>
        </p:nvSpPr>
        <p:spPr>
          <a:xfrm>
            <a:off x="9406591" y="1217501"/>
            <a:ext cx="6858000" cy="971550"/>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重力自适应夹持机构</a:t>
            </a:r>
          </a:p>
        </p:txBody>
      </p:sp>
    </p:spTree>
  </p:cSld>
  <p:clrMapOvr>
    <a:masterClrMapping/>
  </p:clrMapOvr>
  <p:timing>
    <p:tnLst>
      <p:par>
        <p:cTn id="1" dur="indefinite" restart="never" nodeType="tmRoot">
          <p:childTnLst>
            <p:video>
              <p:cMediaNode vol="0">
                <p:cTn id="2" fill="hold" display="0">
                  <p:stCondLst>
                    <p:cond delay="indefinite"/>
                  </p:stCondLst>
                </p:cTn>
                <p:tgtEl>
                  <p:spTgt spid="18"/>
                </p:tgtEl>
              </p:cMediaNode>
            </p:video>
            <p:video>
              <p:cMediaNode vol="0">
                <p:cTn id="3" fill="hold" display="0">
                  <p:stCondLst>
                    <p:cond delay="indefinite"/>
                  </p:stCondLst>
                </p:cTn>
                <p:tgtEl>
                  <p:spTgt spid="19"/>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0" y="6924761"/>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grpSp>
        <p:nvGrpSpPr>
          <p:cNvPr id="14" name="Group 14"/>
          <p:cNvGrpSpPr/>
          <p:nvPr/>
        </p:nvGrpSpPr>
        <p:grpSpPr>
          <a:xfrm rot="5393220">
            <a:off x="6597882" y="5436518"/>
            <a:ext cx="7265680" cy="9525"/>
            <a:chOff x="0" y="0"/>
            <a:chExt cx="9687573" cy="12700"/>
          </a:xfrm>
        </p:grpSpPr>
        <p:sp>
          <p:nvSpPr>
            <p:cNvPr id="15" name="Freeform 15"/>
            <p:cNvSpPr/>
            <p:nvPr/>
          </p:nvSpPr>
          <p:spPr>
            <a:xfrm>
              <a:off x="0" y="0"/>
              <a:ext cx="9687560" cy="12700"/>
            </a:xfrm>
            <a:custGeom>
              <a:avLst/>
              <a:gdLst/>
              <a:ahLst/>
              <a:cxnLst/>
              <a:rect l="l" t="t" r="r" b="b"/>
              <a:pathLst>
                <a:path w="9687560" h="12700">
                  <a:moveTo>
                    <a:pt x="6350" y="0"/>
                  </a:moveTo>
                  <a:lnTo>
                    <a:pt x="9681210" y="0"/>
                  </a:lnTo>
                  <a:cubicBezTo>
                    <a:pt x="9684766" y="0"/>
                    <a:pt x="9687560" y="2794"/>
                    <a:pt x="9687560" y="6350"/>
                  </a:cubicBezTo>
                  <a:cubicBezTo>
                    <a:pt x="9687560" y="9906"/>
                    <a:pt x="9684766" y="12700"/>
                    <a:pt x="9681210"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id="16" name="Group 16"/>
          <p:cNvGrpSpPr/>
          <p:nvPr/>
        </p:nvGrpSpPr>
        <p:grpSpPr>
          <a:xfrm>
            <a:off x="14587166" y="3525298"/>
            <a:ext cx="47625" cy="1401537"/>
            <a:chOff x="0" y="0"/>
            <a:chExt cx="63500" cy="1868716"/>
          </a:xfrm>
        </p:grpSpPr>
        <p:sp>
          <p:nvSpPr>
            <p:cNvPr id="17" name="Freeform 17"/>
            <p:cNvSpPr/>
            <p:nvPr/>
          </p:nvSpPr>
          <p:spPr>
            <a:xfrm>
              <a:off x="-2" y="-2"/>
              <a:ext cx="63504" cy="1868682"/>
            </a:xfrm>
            <a:custGeom>
              <a:avLst/>
              <a:gdLst/>
              <a:ahLst/>
              <a:cxnLst/>
              <a:rect l="l" t="t" r="r" b="b"/>
              <a:pathLst>
                <a:path w="63504" h="1868682">
                  <a:moveTo>
                    <a:pt x="25402" y="12448"/>
                  </a:moveTo>
                  <a:lnTo>
                    <a:pt x="63502" y="1855726"/>
                  </a:lnTo>
                  <a:cubicBezTo>
                    <a:pt x="63629" y="1862711"/>
                    <a:pt x="58041" y="1868553"/>
                    <a:pt x="51056" y="1868680"/>
                  </a:cubicBezTo>
                  <a:cubicBezTo>
                    <a:pt x="44071" y="1868807"/>
                    <a:pt x="38229" y="1863219"/>
                    <a:pt x="38102" y="1856234"/>
                  </a:cubicBezTo>
                  <a:lnTo>
                    <a:pt x="2" y="12956"/>
                  </a:lnTo>
                  <a:cubicBezTo>
                    <a:pt x="-125" y="5971"/>
                    <a:pt x="5463" y="129"/>
                    <a:pt x="12448" y="2"/>
                  </a:cubicBezTo>
                  <a:cubicBezTo>
                    <a:pt x="19433" y="-125"/>
                    <a:pt x="25275" y="5463"/>
                    <a:pt x="25402" y="12448"/>
                  </a:cubicBezTo>
                  <a:close/>
                </a:path>
              </a:pathLst>
            </a:custGeom>
            <a:solidFill>
              <a:srgbClr val="FFFFFF"/>
            </a:solidFill>
          </p:spPr>
        </p:sp>
      </p:grpSp>
      <p:sp>
        <p:nvSpPr>
          <p:cNvPr id="18" name="Freeform 18"/>
          <p:cNvSpPr/>
          <p:nvPr/>
        </p:nvSpPr>
        <p:spPr>
          <a:xfrm>
            <a:off x="184310" y="1091575"/>
            <a:ext cx="2793251" cy="5671576"/>
          </a:xfrm>
          <a:custGeom>
            <a:avLst/>
            <a:gdLst/>
            <a:ahLst/>
            <a:cxnLst/>
            <a:rect l="l" t="t" r="r" b="b"/>
            <a:pathLst>
              <a:path w="2793251" h="5671576">
                <a:moveTo>
                  <a:pt x="0" y="0"/>
                </a:moveTo>
                <a:lnTo>
                  <a:pt x="2793251" y="0"/>
                </a:lnTo>
                <a:lnTo>
                  <a:pt x="2793251" y="5671575"/>
                </a:lnTo>
                <a:lnTo>
                  <a:pt x="0" y="5671575"/>
                </a:lnTo>
                <a:lnTo>
                  <a:pt x="0" y="0"/>
                </a:lnTo>
                <a:close/>
              </a:path>
            </a:pathLst>
          </a:custGeom>
          <a:blipFill>
            <a:blip r:embed="rId5"/>
            <a:stretch>
              <a:fillRect/>
            </a:stretch>
          </a:blipFill>
        </p:spPr>
      </p:sp>
      <p:pic>
        <p:nvPicPr>
          <p:cNvPr id="19" name="Picture 1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3070537" y="1091575"/>
            <a:ext cx="6713533" cy="5324205"/>
          </a:xfrm>
          <a:prstGeom prst="rect">
            <a:avLst/>
          </a:prstGeom>
        </p:spPr>
      </p:pic>
      <p:sp>
        <p:nvSpPr>
          <p:cNvPr id="20" name="TextBox 20"/>
          <p:cNvSpPr txBox="1"/>
          <p:nvPr/>
        </p:nvSpPr>
        <p:spPr>
          <a:xfrm>
            <a:off x="971379" y="377200"/>
            <a:ext cx="5486400"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功能设计与创新：晾衣机构</a:t>
            </a:r>
          </a:p>
        </p:txBody>
      </p:sp>
      <p:sp>
        <p:nvSpPr>
          <p:cNvPr id="21" name="TextBox 21"/>
          <p:cNvSpPr txBox="1"/>
          <p:nvPr/>
        </p:nvSpPr>
        <p:spPr>
          <a:xfrm>
            <a:off x="11716553" y="3188540"/>
            <a:ext cx="2552700" cy="636270"/>
          </a:xfrm>
          <a:prstGeom prst="rect">
            <a:avLst/>
          </a:prstGeom>
        </p:spPr>
        <p:txBody>
          <a:bodyPr lIns="0" tIns="0" rIns="0" bIns="0" rtlCol="0" anchor="t">
            <a:spAutoFit/>
          </a:bodyPr>
          <a:lstStyle/>
          <a:p>
            <a:pPr marL="0" lvl="0" indent="0" algn="r">
              <a:lnSpc>
                <a:spcPts val="4810"/>
              </a:lnSpc>
              <a:spcBef>
                <a:spcPct val="0"/>
              </a:spcBef>
            </a:pPr>
            <a:r>
              <a:rPr lang="en-US" sz="4010" b="1" u="none" strike="noStrike">
                <a:solidFill>
                  <a:srgbClr val="4CC9F0"/>
                </a:solidFill>
                <a:latin typeface="Arimo Bold" panose="020B0704020202020204"/>
                <a:ea typeface="Arimo Bold" panose="020B0704020202020204"/>
                <a:cs typeface="Arimo Bold" panose="020B0704020202020204"/>
                <a:sym typeface="Arimo Bold" panose="020B0704020202020204"/>
              </a:rPr>
              <a:t>自适应撑挂</a:t>
            </a:r>
          </a:p>
        </p:txBody>
      </p:sp>
      <p:sp>
        <p:nvSpPr>
          <p:cNvPr id="22" name="TextBox 22"/>
          <p:cNvSpPr txBox="1"/>
          <p:nvPr/>
        </p:nvSpPr>
        <p:spPr>
          <a:xfrm>
            <a:off x="11545055" y="4806701"/>
            <a:ext cx="2895695" cy="447675"/>
          </a:xfrm>
          <a:prstGeom prst="rect">
            <a:avLst/>
          </a:prstGeom>
        </p:spPr>
        <p:txBody>
          <a:bodyPr lIns="0" tIns="0" rIns="0" bIns="0" rtlCol="0" anchor="t">
            <a:spAutoFit/>
          </a:bodyPr>
          <a:lstStyle/>
          <a:p>
            <a:pPr algn="l">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视觉决策驱动执行</a:t>
            </a:r>
          </a:p>
        </p:txBody>
      </p:sp>
      <p:sp>
        <p:nvSpPr>
          <p:cNvPr id="23" name="TextBox 23"/>
          <p:cNvSpPr txBox="1"/>
          <p:nvPr/>
        </p:nvSpPr>
        <p:spPr>
          <a:xfrm>
            <a:off x="1340464" y="7441161"/>
            <a:ext cx="15607071" cy="2331489"/>
          </a:xfrm>
          <a:prstGeom prst="rect">
            <a:avLst/>
          </a:prstGeom>
        </p:spPr>
        <p:txBody>
          <a:bodyPr lIns="0" tIns="0" rIns="0" bIns="0" rtlCol="0" anchor="t">
            <a:spAutoFit/>
          </a:bodyPr>
          <a:lstStyle/>
          <a:p>
            <a:pPr algn="l">
              <a:lnSpc>
                <a:spcPts val="4605"/>
              </a:lnSpc>
            </a:pPr>
            <a:r>
              <a:rPr lang="en-US" sz="3200" b="1">
                <a:solidFill>
                  <a:srgbClr val="E0F2FE"/>
                </a:solidFill>
                <a:latin typeface="Arimo Bold" panose="020B0704020202020204"/>
                <a:ea typeface="Arimo Bold" panose="020B0704020202020204"/>
                <a:cs typeface="Arimo Bold" panose="020B0704020202020204"/>
                <a:sym typeface="Arimo Bold" panose="020B0704020202020204"/>
              </a:rPr>
              <a:t>采用齿轮传动撑挂晾衣设计，实现</a:t>
            </a:r>
            <a:r>
              <a:rPr lang="en-US" sz="3200" b="1" u="sng">
                <a:solidFill>
                  <a:srgbClr val="D03E25"/>
                </a:solidFill>
                <a:latin typeface="Arimo Bold" panose="020B0704020202020204"/>
                <a:ea typeface="Arimo Bold" panose="020B0704020202020204"/>
                <a:cs typeface="Arimo Bold" panose="020B0704020202020204"/>
                <a:sym typeface="Arimo Bold" panose="020B0704020202020204"/>
              </a:rPr>
              <a:t>“衣架撑挂”</a:t>
            </a:r>
            <a:r>
              <a:rPr lang="en-US" sz="3200" b="1">
                <a:solidFill>
                  <a:srgbClr val="E0F2FE"/>
                </a:solidFill>
                <a:latin typeface="Arimo Bold" panose="020B0704020202020204"/>
                <a:ea typeface="Arimo Bold" panose="020B0704020202020204"/>
                <a:cs typeface="Arimo Bold" panose="020B0704020202020204"/>
                <a:sym typeface="Arimo Bold" panose="020B0704020202020204"/>
              </a:rPr>
              <a:t>功能。系统通过视觉模块对衣物进行识别、分类与状态判断，并将决策指令发送至晾衣机构，使其自动选择合适的执行方式。该设计有效提升了设备对多类型衣物的适应能力，增强了自动晾晒过程的灵活性、稳定性与智能化水平。</a:t>
            </a:r>
          </a:p>
        </p:txBody>
      </p:sp>
      <p:sp>
        <p:nvSpPr>
          <p:cNvPr id="24" name="TextBox 24"/>
          <p:cNvSpPr txBox="1"/>
          <p:nvPr/>
        </p:nvSpPr>
        <p:spPr>
          <a:xfrm>
            <a:off x="10694196" y="1590868"/>
            <a:ext cx="5004318" cy="942975"/>
          </a:xfrm>
          <a:prstGeom prst="rect">
            <a:avLst/>
          </a:prstGeom>
        </p:spPr>
        <p:txBody>
          <a:bodyPr wrap="square" lIns="0" tIns="0" rIns="0" bIns="0" rtlCol="0" anchor="t">
            <a:spAutoFit/>
          </a:bodyPr>
          <a:lstStyle/>
          <a:p>
            <a:pPr algn="r">
              <a:lnSpc>
                <a:spcPts val="7200"/>
              </a:lnSpc>
            </a:pPr>
            <a:r>
              <a:rPr lang="en-US" sz="6000" b="1" dirty="0" err="1">
                <a:solidFill>
                  <a:srgbClr val="2563EB"/>
                </a:solidFill>
                <a:latin typeface="Arimo Bold" panose="020B0704020202020204"/>
                <a:ea typeface="Arimo Bold" panose="020B0704020202020204"/>
                <a:cs typeface="Arimo Bold" panose="020B0704020202020204"/>
                <a:sym typeface="Arimo Bold" panose="020B0704020202020204"/>
              </a:rPr>
              <a:t>齿轮传动衣架</a:t>
            </a:r>
            <a:endParaRPr lang="en-US" sz="60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Tree>
  </p:cSld>
  <p:clrMapOvr>
    <a:masterClrMapping/>
  </p:clrMapOvr>
  <p:timing>
    <p:tnLst>
      <p:par>
        <p:cTn id="1" dur="indefinite" restart="never" nodeType="tmRoot">
          <p:childTnLst>
            <p:video>
              <p:cMediaNode vol="0">
                <p:cTn id="2" fill="hold" display="0">
                  <p:stCondLst>
                    <p:cond delay="indefinite"/>
                  </p:stCondLst>
                </p:cTn>
                <p:tgtEl>
                  <p:spTgt spid="19"/>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19050" y="7811976"/>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0" y="7915494"/>
            <a:ext cx="18288000" cy="2384774"/>
            <a:chOff x="0" y="0"/>
            <a:chExt cx="24384000" cy="3179699"/>
          </a:xfrm>
        </p:grpSpPr>
        <p:sp>
          <p:nvSpPr>
            <p:cNvPr id="11" name="Freeform 11"/>
            <p:cNvSpPr/>
            <p:nvPr/>
          </p:nvSpPr>
          <p:spPr>
            <a:xfrm>
              <a:off x="0" y="0"/>
              <a:ext cx="24384000" cy="3179699"/>
            </a:xfrm>
            <a:custGeom>
              <a:avLst/>
              <a:gdLst/>
              <a:ahLst/>
              <a:cxnLst/>
              <a:rect l="l" t="t" r="r" b="b"/>
              <a:pathLst>
                <a:path w="24384000" h="3179699">
                  <a:moveTo>
                    <a:pt x="0" y="0"/>
                  </a:moveTo>
                  <a:lnTo>
                    <a:pt x="24384000" y="0"/>
                  </a:lnTo>
                  <a:lnTo>
                    <a:pt x="24384000" y="3179699"/>
                  </a:lnTo>
                  <a:lnTo>
                    <a:pt x="0" y="3179699"/>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grpSp>
        <p:nvGrpSpPr>
          <p:cNvPr id="14" name="Group 14"/>
          <p:cNvGrpSpPr/>
          <p:nvPr/>
        </p:nvGrpSpPr>
        <p:grpSpPr>
          <a:xfrm rot="5391660">
            <a:off x="9247280" y="4442517"/>
            <a:ext cx="5882773" cy="9525"/>
            <a:chOff x="0" y="0"/>
            <a:chExt cx="7843698" cy="12700"/>
          </a:xfrm>
        </p:grpSpPr>
        <p:sp>
          <p:nvSpPr>
            <p:cNvPr id="15" name="Freeform 15"/>
            <p:cNvSpPr/>
            <p:nvPr/>
          </p:nvSpPr>
          <p:spPr>
            <a:xfrm>
              <a:off x="0" y="0"/>
              <a:ext cx="7843647" cy="12700"/>
            </a:xfrm>
            <a:custGeom>
              <a:avLst/>
              <a:gdLst/>
              <a:ahLst/>
              <a:cxnLst/>
              <a:rect l="l" t="t" r="r" b="b"/>
              <a:pathLst>
                <a:path w="7843647" h="12700">
                  <a:moveTo>
                    <a:pt x="6350" y="0"/>
                  </a:moveTo>
                  <a:lnTo>
                    <a:pt x="7837297" y="0"/>
                  </a:lnTo>
                  <a:cubicBezTo>
                    <a:pt x="7840853" y="0"/>
                    <a:pt x="7843647" y="2794"/>
                    <a:pt x="7843647" y="6350"/>
                  </a:cubicBezTo>
                  <a:cubicBezTo>
                    <a:pt x="7843647" y="9906"/>
                    <a:pt x="7840853" y="12700"/>
                    <a:pt x="7837297"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id="16" name="Group 16"/>
          <p:cNvGrpSpPr/>
          <p:nvPr/>
        </p:nvGrpSpPr>
        <p:grpSpPr>
          <a:xfrm rot="5347380">
            <a:off x="16657749" y="3325968"/>
            <a:ext cx="1886502" cy="19050"/>
            <a:chOff x="0" y="0"/>
            <a:chExt cx="2515337" cy="25400"/>
          </a:xfrm>
        </p:grpSpPr>
        <p:sp>
          <p:nvSpPr>
            <p:cNvPr id="17" name="Freeform 17"/>
            <p:cNvSpPr/>
            <p:nvPr/>
          </p:nvSpPr>
          <p:spPr>
            <a:xfrm>
              <a:off x="0" y="0"/>
              <a:ext cx="2515362" cy="25400"/>
            </a:xfrm>
            <a:custGeom>
              <a:avLst/>
              <a:gdLst/>
              <a:ahLst/>
              <a:cxnLst/>
              <a:rect l="l" t="t" r="r" b="b"/>
              <a:pathLst>
                <a:path w="2515362" h="25400">
                  <a:moveTo>
                    <a:pt x="12700" y="0"/>
                  </a:moveTo>
                  <a:lnTo>
                    <a:pt x="2502662" y="0"/>
                  </a:lnTo>
                  <a:cubicBezTo>
                    <a:pt x="2509647" y="0"/>
                    <a:pt x="2515362" y="5715"/>
                    <a:pt x="2515362" y="12700"/>
                  </a:cubicBezTo>
                  <a:cubicBezTo>
                    <a:pt x="2515362" y="19685"/>
                    <a:pt x="2509647" y="25400"/>
                    <a:pt x="2502662" y="25400"/>
                  </a:cubicBezTo>
                  <a:lnTo>
                    <a:pt x="12700" y="25400"/>
                  </a:lnTo>
                  <a:cubicBezTo>
                    <a:pt x="5715" y="25400"/>
                    <a:pt x="0" y="19685"/>
                    <a:pt x="0" y="12700"/>
                  </a:cubicBezTo>
                  <a:cubicBezTo>
                    <a:pt x="0" y="5715"/>
                    <a:pt x="5715" y="0"/>
                    <a:pt x="12700" y="0"/>
                  </a:cubicBezTo>
                  <a:close/>
                </a:path>
              </a:pathLst>
            </a:custGeom>
            <a:solidFill>
              <a:srgbClr val="FFFFFF"/>
            </a:solidFill>
          </p:spPr>
        </p:sp>
      </p:grpSp>
      <p:grpSp>
        <p:nvGrpSpPr>
          <p:cNvPr id="18" name="Group 18"/>
          <p:cNvGrpSpPr/>
          <p:nvPr/>
        </p:nvGrpSpPr>
        <p:grpSpPr>
          <a:xfrm rot="5347740">
            <a:off x="16651519" y="6674387"/>
            <a:ext cx="1898952" cy="19050"/>
            <a:chOff x="0" y="0"/>
            <a:chExt cx="2531936" cy="25400"/>
          </a:xfrm>
        </p:grpSpPr>
        <p:sp>
          <p:nvSpPr>
            <p:cNvPr id="19" name="Freeform 19"/>
            <p:cNvSpPr/>
            <p:nvPr/>
          </p:nvSpPr>
          <p:spPr>
            <a:xfrm>
              <a:off x="0" y="0"/>
              <a:ext cx="2531999" cy="25400"/>
            </a:xfrm>
            <a:custGeom>
              <a:avLst/>
              <a:gdLst/>
              <a:ahLst/>
              <a:cxnLst/>
              <a:rect l="l" t="t" r="r" b="b"/>
              <a:pathLst>
                <a:path w="2531999" h="25400">
                  <a:moveTo>
                    <a:pt x="12700" y="0"/>
                  </a:moveTo>
                  <a:lnTo>
                    <a:pt x="2519299" y="0"/>
                  </a:lnTo>
                  <a:cubicBezTo>
                    <a:pt x="2526284" y="0"/>
                    <a:pt x="2531999" y="5715"/>
                    <a:pt x="2531999" y="12700"/>
                  </a:cubicBezTo>
                  <a:cubicBezTo>
                    <a:pt x="2531999" y="19685"/>
                    <a:pt x="2526284" y="25400"/>
                    <a:pt x="2519299" y="25400"/>
                  </a:cubicBezTo>
                  <a:lnTo>
                    <a:pt x="12700" y="25400"/>
                  </a:lnTo>
                  <a:cubicBezTo>
                    <a:pt x="5715" y="25400"/>
                    <a:pt x="0" y="19685"/>
                    <a:pt x="0" y="12700"/>
                  </a:cubicBezTo>
                  <a:cubicBezTo>
                    <a:pt x="0" y="5715"/>
                    <a:pt x="5715" y="0"/>
                    <a:pt x="12700" y="0"/>
                  </a:cubicBezTo>
                  <a:close/>
                </a:path>
              </a:pathLst>
            </a:custGeom>
            <a:solidFill>
              <a:srgbClr val="FFFFFF"/>
            </a:solidFill>
          </p:spPr>
        </p:sp>
      </p:grpSp>
      <p:pic>
        <p:nvPicPr>
          <p:cNvPr id="20" name="Picture 2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a:stretch>
            <a:fillRect/>
          </a:stretch>
        </p:blipFill>
        <p:spPr>
          <a:xfrm>
            <a:off x="813511" y="1604755"/>
            <a:ext cx="9567234" cy="5695494"/>
          </a:xfrm>
          <a:prstGeom prst="rect">
            <a:avLst/>
          </a:prstGeom>
        </p:spPr>
      </p:pic>
      <p:sp>
        <p:nvSpPr>
          <p:cNvPr id="21" name="TextBox 21"/>
          <p:cNvSpPr txBox="1"/>
          <p:nvPr/>
        </p:nvSpPr>
        <p:spPr>
          <a:xfrm>
            <a:off x="971379" y="377200"/>
            <a:ext cx="6858000"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功能设计与创新：流水线晾晒衣物</a:t>
            </a:r>
          </a:p>
        </p:txBody>
      </p:sp>
      <p:sp>
        <p:nvSpPr>
          <p:cNvPr id="22" name="TextBox 22"/>
          <p:cNvSpPr txBox="1"/>
          <p:nvPr/>
        </p:nvSpPr>
        <p:spPr>
          <a:xfrm>
            <a:off x="11506359" y="2331243"/>
            <a:ext cx="2783941"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连续挂放</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3" name="TextBox 23"/>
          <p:cNvSpPr txBox="1"/>
          <p:nvPr/>
        </p:nvSpPr>
        <p:spPr>
          <a:xfrm>
            <a:off x="10927017" y="3171609"/>
            <a:ext cx="4638065" cy="83820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衣架完成单件衣物挂放</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传送带输送后释放下一挂放位</a:t>
            </a:r>
          </a:p>
        </p:txBody>
      </p:sp>
      <p:sp>
        <p:nvSpPr>
          <p:cNvPr id="24" name="TextBox 24"/>
          <p:cNvSpPr txBox="1"/>
          <p:nvPr/>
        </p:nvSpPr>
        <p:spPr>
          <a:xfrm>
            <a:off x="1011074" y="7994571"/>
            <a:ext cx="16265852" cy="1967611"/>
          </a:xfrm>
          <a:prstGeom prst="rect">
            <a:avLst/>
          </a:prstGeom>
        </p:spPr>
        <p:txBody>
          <a:bodyPr lIns="0" tIns="0" rIns="0" bIns="0" rtlCol="0" anchor="t">
            <a:spAutoFit/>
          </a:bodyPr>
          <a:lstStyle/>
          <a:p>
            <a:pPr marL="0" lvl="0" indent="0" algn="l">
              <a:lnSpc>
                <a:spcPts val="3885"/>
              </a:lnSpc>
              <a:spcBef>
                <a:spcPct val="0"/>
              </a:spcBef>
            </a:pPr>
            <a:r>
              <a:rPr lang="en-US" sz="2700" b="1" u="none" strike="noStrike">
                <a:solidFill>
                  <a:srgbClr val="E0F2FE"/>
                </a:solidFill>
                <a:latin typeface="Arimo Bold" panose="020B0704020202020204"/>
                <a:ea typeface="Arimo Bold" panose="020B0704020202020204"/>
                <a:cs typeface="Arimo Bold" panose="020B0704020202020204"/>
                <a:sym typeface="Arimo Bold" panose="020B0704020202020204"/>
              </a:rPr>
              <a:t>本模块采用夹持挂放与同步带传送相结合的设计方案。夹子先将单件衣物挂置到传送带对应工位上，随后传送带在电机驱动下持续运行，将已挂放衣物输送至后续位置，为下一件衣物释放挂放空间，并继续进行下一件衣物的挂放操作。该结构实现了衣物挂放与输送过程的连续衔接，提高了流水线作业效率，同时使整体机构更加紧凑有序。</a:t>
            </a:r>
          </a:p>
        </p:txBody>
      </p:sp>
      <p:sp>
        <p:nvSpPr>
          <p:cNvPr id="25" name="TextBox 25"/>
          <p:cNvSpPr txBox="1"/>
          <p:nvPr/>
        </p:nvSpPr>
        <p:spPr>
          <a:xfrm>
            <a:off x="10744200" y="1291231"/>
            <a:ext cx="5334000" cy="979170"/>
          </a:xfrm>
          <a:prstGeom prst="rect">
            <a:avLst/>
          </a:prstGeom>
        </p:spPr>
        <p:txBody>
          <a:bodyPr lIns="0" tIns="0" rIns="0" bIns="0" rtlCol="0" anchor="t">
            <a:spAutoFit/>
          </a:bodyPr>
          <a:lstStyle/>
          <a:p>
            <a:pPr algn="r">
              <a:lnSpc>
                <a:spcPts val="7200"/>
              </a:lnSpc>
            </a:pPr>
            <a:r>
              <a:rPr lang="en-US" sz="6000" b="1" dirty="0" err="1">
                <a:solidFill>
                  <a:srgbClr val="2563EB"/>
                </a:solidFill>
                <a:latin typeface="Arimo Bold" panose="020B0704020202020204"/>
                <a:ea typeface="Arimo Bold" panose="020B0704020202020204"/>
                <a:cs typeface="Arimo Bold" panose="020B0704020202020204"/>
                <a:sym typeface="Arimo Bold" panose="020B0704020202020204"/>
              </a:rPr>
              <a:t>传送带式晾衣杆</a:t>
            </a:r>
            <a:endParaRPr lang="en-US" sz="60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
        <p:nvSpPr>
          <p:cNvPr id="26" name="TextBox 26"/>
          <p:cNvSpPr txBox="1"/>
          <p:nvPr/>
        </p:nvSpPr>
        <p:spPr>
          <a:xfrm>
            <a:off x="11912403" y="5490664"/>
            <a:ext cx="2429960"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循环复位</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7" name="TextBox 27"/>
          <p:cNvSpPr txBox="1"/>
          <p:nvPr/>
        </p:nvSpPr>
        <p:spPr>
          <a:xfrm>
            <a:off x="10557567" y="6444482"/>
            <a:ext cx="5139633" cy="85725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前件衣物传送离开后</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继续挂放下一件</a:t>
            </a:r>
          </a:p>
        </p:txBody>
      </p:sp>
      <p:sp>
        <p:nvSpPr>
          <p:cNvPr id="28" name="TextBox 28"/>
          <p:cNvSpPr txBox="1"/>
          <p:nvPr/>
        </p:nvSpPr>
        <p:spPr>
          <a:xfrm>
            <a:off x="11341049" y="4295559"/>
            <a:ext cx="3810000" cy="971550"/>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流程衔接性</a:t>
            </a:r>
          </a:p>
        </p:txBody>
      </p:sp>
    </p:spTree>
  </p:cSld>
  <p:clrMapOvr>
    <a:masterClrMapping/>
  </p:clrMapOvr>
  <p:timing>
    <p:tnLst>
      <p:par>
        <p:cTn id="1" dur="indefinite" restart="never" nodeType="tmRoot">
          <p:childTnLst>
            <p:video>
              <p:cMediaNode vol="0">
                <p:cTn id="2" fill="hold" display="0">
                  <p:stCondLst>
                    <p:cond delay="indefinite"/>
                  </p:stCondLst>
                </p:cTn>
                <p:tgtEl>
                  <p:spTgt spid="20"/>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290941" y="4485742"/>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0" y="4611195"/>
            <a:ext cx="18288000" cy="5602853"/>
            <a:chOff x="0" y="0"/>
            <a:chExt cx="24384000" cy="7470470"/>
          </a:xfrm>
        </p:grpSpPr>
        <p:sp>
          <p:nvSpPr>
            <p:cNvPr id="11" name="Freeform 11"/>
            <p:cNvSpPr/>
            <p:nvPr/>
          </p:nvSpPr>
          <p:spPr>
            <a:xfrm>
              <a:off x="0" y="0"/>
              <a:ext cx="24384000" cy="7470521"/>
            </a:xfrm>
            <a:custGeom>
              <a:avLst/>
              <a:gdLst/>
              <a:ahLst/>
              <a:cxnLst/>
              <a:rect l="l" t="t" r="r" b="b"/>
              <a:pathLst>
                <a:path w="24384000" h="7470521">
                  <a:moveTo>
                    <a:pt x="0" y="0"/>
                  </a:moveTo>
                  <a:lnTo>
                    <a:pt x="24384000" y="0"/>
                  </a:lnTo>
                  <a:lnTo>
                    <a:pt x="24384000" y="7470521"/>
                  </a:lnTo>
                  <a:lnTo>
                    <a:pt x="0" y="7470521"/>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sp>
        <p:nvSpPr>
          <p:cNvPr id="14" name="TextBox 14"/>
          <p:cNvSpPr txBox="1"/>
          <p:nvPr/>
        </p:nvSpPr>
        <p:spPr>
          <a:xfrm>
            <a:off x="9972521" y="4684796"/>
            <a:ext cx="8177813" cy="5227937"/>
          </a:xfrm>
          <a:prstGeom prst="rect">
            <a:avLst/>
          </a:prstGeom>
        </p:spPr>
        <p:txBody>
          <a:bodyPr lIns="0" tIns="0" rIns="0" bIns="0" rtlCol="0" anchor="t">
            <a:spAutoFit/>
          </a:bodyPr>
          <a:lstStyle/>
          <a:p>
            <a:pPr algn="just">
              <a:lnSpc>
                <a:spcPts val="4140"/>
              </a:lnSpc>
            </a:pPr>
            <a:r>
              <a:rPr lang="en-US" sz="2875" b="1" dirty="0" err="1">
                <a:solidFill>
                  <a:srgbClr val="E0F2FE"/>
                </a:solidFill>
                <a:latin typeface="Arimo Bold" panose="020B0704020202020204"/>
                <a:ea typeface="Arimo Bold" panose="020B0704020202020204"/>
                <a:cs typeface="Arimo Bold" panose="020B0704020202020204"/>
                <a:sym typeface="Arimo Bold" panose="020B0704020202020204"/>
              </a:rPr>
              <a:t>本系统采用“语音控制</a:t>
            </a:r>
            <a:r>
              <a:rPr lang="en-US" sz="2875" b="1" dirty="0">
                <a:solidFill>
                  <a:srgbClr val="E0F2FE"/>
                </a:solidFill>
                <a:latin typeface="Arimo Bold" panose="020B0704020202020204"/>
                <a:ea typeface="Arimo Bold" panose="020B0704020202020204"/>
                <a:cs typeface="Arimo Bold" panose="020B0704020202020204"/>
                <a:sym typeface="Arimo Bold" panose="020B0704020202020204"/>
              </a:rPr>
              <a:t> + 液晶显示”的人机交互方式。用户发出语音指令后，由Micro模块接收语音信息，并通过WiFi发送至边缘计算设备。边缘设备上部署轻量化LLM模型，用于完成自然语言处理、语义理解和任务分析，并根据分析结果生成对应的控制任务。随后，系统将任务指令发布至下位机控制板，由控制板驱动相关执行机构完成相应操作。同时，液晶显示屏可实时反馈设备运行状态、当前功能模式及任务执行信息，使用户能够直观了解设备工作过程，提升系统的交互性与使用便捷性。</a:t>
            </a:r>
          </a:p>
        </p:txBody>
      </p:sp>
      <p:grpSp>
        <p:nvGrpSpPr>
          <p:cNvPr id="15" name="Group 15"/>
          <p:cNvGrpSpPr/>
          <p:nvPr/>
        </p:nvGrpSpPr>
        <p:grpSpPr>
          <a:xfrm rot="5328960">
            <a:off x="16267033" y="3983507"/>
            <a:ext cx="1401832" cy="19050"/>
            <a:chOff x="0" y="0"/>
            <a:chExt cx="1869110" cy="25400"/>
          </a:xfrm>
        </p:grpSpPr>
        <p:sp>
          <p:nvSpPr>
            <p:cNvPr id="16" name="Freeform 16"/>
            <p:cNvSpPr/>
            <p:nvPr/>
          </p:nvSpPr>
          <p:spPr>
            <a:xfrm>
              <a:off x="0" y="0"/>
              <a:ext cx="1869059" cy="25400"/>
            </a:xfrm>
            <a:custGeom>
              <a:avLst/>
              <a:gdLst/>
              <a:ahLst/>
              <a:cxnLst/>
              <a:rect l="l" t="t" r="r" b="b"/>
              <a:pathLst>
                <a:path w="1869059" h="25400">
                  <a:moveTo>
                    <a:pt x="12700" y="0"/>
                  </a:moveTo>
                  <a:lnTo>
                    <a:pt x="1856359" y="0"/>
                  </a:lnTo>
                  <a:cubicBezTo>
                    <a:pt x="1863344" y="0"/>
                    <a:pt x="1869059" y="5715"/>
                    <a:pt x="1869059" y="12700"/>
                  </a:cubicBezTo>
                  <a:cubicBezTo>
                    <a:pt x="1869059" y="19685"/>
                    <a:pt x="1863344" y="25400"/>
                    <a:pt x="1856359" y="25400"/>
                  </a:cubicBezTo>
                  <a:lnTo>
                    <a:pt x="12700" y="25400"/>
                  </a:lnTo>
                  <a:cubicBezTo>
                    <a:pt x="5715" y="25400"/>
                    <a:pt x="0" y="19685"/>
                    <a:pt x="0" y="12700"/>
                  </a:cubicBezTo>
                  <a:cubicBezTo>
                    <a:pt x="0" y="5715"/>
                    <a:pt x="5715" y="0"/>
                    <a:pt x="12700" y="0"/>
                  </a:cubicBezTo>
                  <a:close/>
                </a:path>
              </a:pathLst>
            </a:custGeom>
            <a:solidFill>
              <a:srgbClr val="FFFFFF"/>
            </a:solidFill>
          </p:spPr>
        </p:sp>
      </p:grpSp>
      <p:grpSp>
        <p:nvGrpSpPr>
          <p:cNvPr id="17" name="Group 17"/>
          <p:cNvGrpSpPr/>
          <p:nvPr/>
        </p:nvGrpSpPr>
        <p:grpSpPr>
          <a:xfrm>
            <a:off x="0" y="2738571"/>
            <a:ext cx="9766011" cy="7438939"/>
            <a:chOff x="0" y="0"/>
            <a:chExt cx="12633427" cy="9475038"/>
          </a:xfrm>
        </p:grpSpPr>
        <p:sp>
          <p:nvSpPr>
            <p:cNvPr id="18" name="Freeform 18"/>
            <p:cNvSpPr/>
            <p:nvPr/>
          </p:nvSpPr>
          <p:spPr>
            <a:xfrm>
              <a:off x="0" y="0"/>
              <a:ext cx="12633452" cy="9475089"/>
            </a:xfrm>
            <a:custGeom>
              <a:avLst/>
              <a:gdLst/>
              <a:ahLst/>
              <a:cxnLst/>
              <a:rect l="l" t="t" r="r" b="b"/>
              <a:pathLst>
                <a:path w="12633452" h="9475089">
                  <a:moveTo>
                    <a:pt x="0" y="0"/>
                  </a:moveTo>
                  <a:lnTo>
                    <a:pt x="12633452" y="0"/>
                  </a:lnTo>
                  <a:lnTo>
                    <a:pt x="12633452" y="9475089"/>
                  </a:lnTo>
                  <a:lnTo>
                    <a:pt x="0" y="9475089"/>
                  </a:lnTo>
                  <a:lnTo>
                    <a:pt x="0" y="0"/>
                  </a:lnTo>
                  <a:close/>
                </a:path>
              </a:pathLst>
            </a:custGeom>
            <a:blipFill>
              <a:blip r:embed="rId3"/>
              <a:stretch>
                <a:fillRect/>
              </a:stretch>
            </a:blipFill>
          </p:spPr>
        </p:sp>
      </p:grpSp>
      <p:sp>
        <p:nvSpPr>
          <p:cNvPr id="19" name="TextBox 19"/>
          <p:cNvSpPr txBox="1"/>
          <p:nvPr/>
        </p:nvSpPr>
        <p:spPr>
          <a:xfrm>
            <a:off x="971379" y="377200"/>
            <a:ext cx="10933233"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功能设计与实现：人机交互（语音+液晶屏幕）</a:t>
            </a:r>
          </a:p>
        </p:txBody>
      </p:sp>
      <p:sp>
        <p:nvSpPr>
          <p:cNvPr id="20" name="TextBox 20"/>
          <p:cNvSpPr txBox="1"/>
          <p:nvPr/>
        </p:nvSpPr>
        <p:spPr>
          <a:xfrm>
            <a:off x="11546428" y="2152117"/>
            <a:ext cx="4455571"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语音识别+液晶显示</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1" name="TextBox 21"/>
          <p:cNvSpPr txBox="1"/>
          <p:nvPr/>
        </p:nvSpPr>
        <p:spPr>
          <a:xfrm>
            <a:off x="12111777" y="2916707"/>
            <a:ext cx="3240881" cy="447675"/>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高效识别、超清显示</a:t>
            </a:r>
          </a:p>
        </p:txBody>
      </p:sp>
      <p:sp>
        <p:nvSpPr>
          <p:cNvPr id="22" name="TextBox 22"/>
          <p:cNvSpPr txBox="1"/>
          <p:nvPr/>
        </p:nvSpPr>
        <p:spPr>
          <a:xfrm>
            <a:off x="11004631" y="3554882"/>
            <a:ext cx="5166979" cy="857250"/>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ASR-PRO2.0PLUS语音识别模块</a:t>
            </a:r>
          </a:p>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2.92英寸OLED液晶大屏</a:t>
            </a:r>
          </a:p>
        </p:txBody>
      </p:sp>
      <p:sp>
        <p:nvSpPr>
          <p:cNvPr id="23" name="TextBox 23"/>
          <p:cNvSpPr txBox="1"/>
          <p:nvPr/>
        </p:nvSpPr>
        <p:spPr>
          <a:xfrm>
            <a:off x="11546429" y="1104040"/>
            <a:ext cx="3577333" cy="1027538"/>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人机交互</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56017"/>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0" y="6179963"/>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0" y="6305417"/>
            <a:ext cx="18288000" cy="3990604"/>
            <a:chOff x="0" y="0"/>
            <a:chExt cx="24384000" cy="5320805"/>
          </a:xfrm>
        </p:grpSpPr>
        <p:sp>
          <p:nvSpPr>
            <p:cNvPr id="11" name="Freeform 11"/>
            <p:cNvSpPr/>
            <p:nvPr/>
          </p:nvSpPr>
          <p:spPr>
            <a:xfrm>
              <a:off x="0" y="0"/>
              <a:ext cx="24384000" cy="5320792"/>
            </a:xfrm>
            <a:custGeom>
              <a:avLst/>
              <a:gdLst/>
              <a:ahLst/>
              <a:cxnLst/>
              <a:rect l="l" t="t" r="r" b="b"/>
              <a:pathLst>
                <a:path w="24384000" h="5320792">
                  <a:moveTo>
                    <a:pt x="0" y="0"/>
                  </a:moveTo>
                  <a:lnTo>
                    <a:pt x="24384000" y="0"/>
                  </a:lnTo>
                  <a:lnTo>
                    <a:pt x="24384000" y="5320792"/>
                  </a:lnTo>
                  <a:lnTo>
                    <a:pt x="0" y="5320792"/>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grpSp>
        <p:nvGrpSpPr>
          <p:cNvPr id="14" name="Group 14"/>
          <p:cNvGrpSpPr/>
          <p:nvPr/>
        </p:nvGrpSpPr>
        <p:grpSpPr>
          <a:xfrm>
            <a:off x="-1" y="5497963"/>
            <a:ext cx="6437995" cy="4798048"/>
            <a:chOff x="0" y="0"/>
            <a:chExt cx="8339214" cy="6254445"/>
          </a:xfrm>
        </p:grpSpPr>
        <p:sp>
          <p:nvSpPr>
            <p:cNvPr id="15" name="Freeform 15"/>
            <p:cNvSpPr/>
            <p:nvPr/>
          </p:nvSpPr>
          <p:spPr>
            <a:xfrm>
              <a:off x="0" y="0"/>
              <a:ext cx="8339201" cy="6254496"/>
            </a:xfrm>
            <a:custGeom>
              <a:avLst/>
              <a:gdLst/>
              <a:ahLst/>
              <a:cxnLst/>
              <a:rect l="l" t="t" r="r" b="b"/>
              <a:pathLst>
                <a:path w="8339201" h="6254496">
                  <a:moveTo>
                    <a:pt x="0" y="0"/>
                  </a:moveTo>
                  <a:lnTo>
                    <a:pt x="8339201" y="0"/>
                  </a:lnTo>
                  <a:lnTo>
                    <a:pt x="8339201" y="6254496"/>
                  </a:lnTo>
                  <a:lnTo>
                    <a:pt x="0" y="6254496"/>
                  </a:lnTo>
                  <a:lnTo>
                    <a:pt x="0" y="0"/>
                  </a:lnTo>
                  <a:close/>
                </a:path>
              </a:pathLst>
            </a:custGeom>
            <a:blipFill>
              <a:blip r:embed="rId3"/>
              <a:stretch>
                <a:fillRect/>
              </a:stretch>
            </a:blipFill>
          </p:spPr>
        </p:sp>
      </p:grpSp>
      <p:grpSp>
        <p:nvGrpSpPr>
          <p:cNvPr id="16" name="Group 16"/>
          <p:cNvGrpSpPr/>
          <p:nvPr/>
        </p:nvGrpSpPr>
        <p:grpSpPr>
          <a:xfrm>
            <a:off x="0" y="1093022"/>
            <a:ext cx="6860029" cy="4299528"/>
            <a:chOff x="0" y="0"/>
            <a:chExt cx="9146705" cy="5732704"/>
          </a:xfrm>
        </p:grpSpPr>
        <p:sp>
          <p:nvSpPr>
            <p:cNvPr id="17" name="Freeform 17"/>
            <p:cNvSpPr/>
            <p:nvPr/>
          </p:nvSpPr>
          <p:spPr>
            <a:xfrm>
              <a:off x="0" y="0"/>
              <a:ext cx="9146667" cy="5732653"/>
            </a:xfrm>
            <a:custGeom>
              <a:avLst/>
              <a:gdLst/>
              <a:ahLst/>
              <a:cxnLst/>
              <a:rect l="l" t="t" r="r" b="b"/>
              <a:pathLst>
                <a:path w="9146667" h="5732653">
                  <a:moveTo>
                    <a:pt x="0" y="0"/>
                  </a:moveTo>
                  <a:lnTo>
                    <a:pt x="9146667" y="0"/>
                  </a:lnTo>
                  <a:lnTo>
                    <a:pt x="9146667" y="5732653"/>
                  </a:lnTo>
                  <a:lnTo>
                    <a:pt x="0" y="5732653"/>
                  </a:lnTo>
                  <a:lnTo>
                    <a:pt x="0" y="0"/>
                  </a:lnTo>
                  <a:close/>
                </a:path>
              </a:pathLst>
            </a:custGeom>
            <a:blipFill>
              <a:blip r:embed="rId4"/>
              <a:stretch>
                <a:fillRect l="-6493" r="-6494"/>
              </a:stretch>
            </a:blipFill>
          </p:spPr>
        </p:sp>
      </p:grpSp>
      <p:sp>
        <p:nvSpPr>
          <p:cNvPr id="18" name="TextBox 18"/>
          <p:cNvSpPr txBox="1"/>
          <p:nvPr/>
        </p:nvSpPr>
        <p:spPr>
          <a:xfrm>
            <a:off x="7172791" y="1178752"/>
            <a:ext cx="7211654" cy="942975"/>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实时摄影+衣物识别</a:t>
            </a:r>
          </a:p>
        </p:txBody>
      </p:sp>
      <p:sp>
        <p:nvSpPr>
          <p:cNvPr id="19" name="TextBox 19"/>
          <p:cNvSpPr txBox="1"/>
          <p:nvPr/>
        </p:nvSpPr>
        <p:spPr>
          <a:xfrm>
            <a:off x="971379" y="377200"/>
            <a:ext cx="10933233"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功能设计与创新：实时摄影</a:t>
            </a:r>
          </a:p>
        </p:txBody>
      </p:sp>
      <p:sp>
        <p:nvSpPr>
          <p:cNvPr id="20" name="TextBox 20"/>
          <p:cNvSpPr txBox="1"/>
          <p:nvPr/>
        </p:nvSpPr>
        <p:spPr>
          <a:xfrm>
            <a:off x="8329026" y="2699869"/>
            <a:ext cx="4899183" cy="636270"/>
          </a:xfrm>
          <a:prstGeom prst="rect">
            <a:avLst/>
          </a:prstGeom>
        </p:spPr>
        <p:txBody>
          <a:bodyPr lIns="0" tIns="0" rIns="0" bIns="0" rtlCol="0" anchor="t">
            <a:spAutoFit/>
          </a:bodyPr>
          <a:lstStyle/>
          <a:p>
            <a:pPr marL="0" lvl="0" indent="0" algn="r">
              <a:lnSpc>
                <a:spcPts val="4810"/>
              </a:lnSpc>
              <a:spcBef>
                <a:spcPct val="0"/>
              </a:spcBef>
            </a:pPr>
            <a:r>
              <a:rPr lang="en-US" sz="4010" b="1" u="none" strike="noStrike">
                <a:solidFill>
                  <a:srgbClr val="4CC9F0"/>
                </a:solidFill>
                <a:latin typeface="Arimo Bold" panose="020B0704020202020204"/>
                <a:ea typeface="Arimo Bold" panose="020B0704020202020204"/>
                <a:cs typeface="Arimo Bold" panose="020B0704020202020204"/>
                <a:sym typeface="Arimo Bold" panose="020B0704020202020204"/>
              </a:rPr>
              <a:t>集成YOLOv8算法</a:t>
            </a:r>
          </a:p>
        </p:txBody>
      </p:sp>
      <p:sp>
        <p:nvSpPr>
          <p:cNvPr id="21" name="TextBox 21"/>
          <p:cNvSpPr txBox="1"/>
          <p:nvPr/>
        </p:nvSpPr>
        <p:spPr>
          <a:xfrm>
            <a:off x="8607816" y="5124450"/>
            <a:ext cx="5124001" cy="428699"/>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视觉识别到机械对准的闭环控制</a:t>
            </a:r>
          </a:p>
        </p:txBody>
      </p:sp>
      <p:sp>
        <p:nvSpPr>
          <p:cNvPr id="22" name="TextBox 22"/>
          <p:cNvSpPr txBox="1"/>
          <p:nvPr/>
        </p:nvSpPr>
        <p:spPr>
          <a:xfrm>
            <a:off x="6437995" y="3972873"/>
            <a:ext cx="9463642" cy="428699"/>
          </a:xfrm>
          <a:prstGeom prst="rect">
            <a:avLst/>
          </a:prstGeom>
        </p:spPr>
        <p:txBody>
          <a:bodyPr lIns="0" tIns="0" rIns="0" bIns="0" rtlCol="0" anchor="t">
            <a:spAutoFit/>
          </a:bodyPr>
          <a:lstStyle/>
          <a:p>
            <a:pPr algn="ct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YOLOv8 衣物检测 + ROI 局部图像分析 + TF 坐标变换</a:t>
            </a:r>
          </a:p>
        </p:txBody>
      </p:sp>
      <p:sp>
        <p:nvSpPr>
          <p:cNvPr id="23" name="TextBox 23"/>
          <p:cNvSpPr txBox="1"/>
          <p:nvPr/>
        </p:nvSpPr>
        <p:spPr>
          <a:xfrm>
            <a:off x="6687855" y="6372092"/>
            <a:ext cx="10899686" cy="3722788"/>
          </a:xfrm>
          <a:prstGeom prst="rect">
            <a:avLst/>
          </a:prstGeom>
        </p:spPr>
        <p:txBody>
          <a:bodyPr lIns="0" tIns="0" rIns="0" bIns="0" rtlCol="0" anchor="t">
            <a:spAutoFit/>
          </a:bodyPr>
          <a:lstStyle/>
          <a:p>
            <a:pPr algn="just">
              <a:lnSpc>
                <a:spcPts val="3700"/>
              </a:lnSpc>
            </a:pPr>
            <a:r>
              <a:rPr lang="en-US" sz="2565" b="1">
                <a:solidFill>
                  <a:srgbClr val="E0F2FE"/>
                </a:solidFill>
                <a:latin typeface="Arimo Bold" panose="020B0704020202020204"/>
                <a:ea typeface="Arimo Bold" panose="020B0704020202020204"/>
                <a:cs typeface="Arimo Bold" panose="020B0704020202020204"/>
                <a:sym typeface="Arimo Bold" panose="020B0704020202020204"/>
              </a:rPr>
              <a:t>本实时视觉监测模块在设备顶部集成YOLOv8摄像头和ESP32-CAM上，对衣物进行实时识别与图像采集。系统通过目标检测算法完成衣物识别，并结合ROI局部图像定位算法定位衣领，最后通过TF坐标变换计算出衣领的实时空间位置。随后，底盘依据算法发布的运动方向与旋转角度信息进行动态调整和姿态矫正，使夹持机构逐步对准目标衣领位置。在完成精确对位后，夹爪执行下落动作，实现对衣物的稳定夹取。该模块能够完成从衣物识别、位置计算、底盘校正到精准抓取的连续闭环控制，为后续自动挂放与流水线式晾晒提供可靠支撑，有效提升系统运行的准确性、稳定性和自动化水平。</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0" y="6782200"/>
            <a:ext cx="18288000" cy="125444"/>
            <a:chOff x="0" y="0"/>
            <a:chExt cx="24384000" cy="167259"/>
          </a:xfrm>
        </p:grpSpPr>
        <p:sp>
          <p:nvSpPr>
            <p:cNvPr id="9" name="Freeform 9"/>
            <p:cNvSpPr/>
            <p:nvPr/>
          </p:nvSpPr>
          <p:spPr>
            <a:xfrm>
              <a:off x="0" y="0"/>
              <a:ext cx="24384000" cy="167259"/>
            </a:xfrm>
            <a:custGeom>
              <a:avLst/>
              <a:gdLst/>
              <a:ahLst/>
              <a:cxnLst/>
              <a:rect l="l" t="t" r="r" b="b"/>
              <a:pathLst>
                <a:path w="24384000" h="167259">
                  <a:moveTo>
                    <a:pt x="0" y="0"/>
                  </a:moveTo>
                  <a:lnTo>
                    <a:pt x="24384000" y="0"/>
                  </a:lnTo>
                  <a:lnTo>
                    <a:pt x="24384000" y="167259"/>
                  </a:lnTo>
                  <a:lnTo>
                    <a:pt x="0" y="167259"/>
                  </a:lnTo>
                  <a:close/>
                </a:path>
              </a:pathLst>
            </a:custGeom>
            <a:gradFill rotWithShape="1">
              <a:gsLst>
                <a:gs pos="0">
                  <a:srgbClr val="E0F2FE">
                    <a:alpha val="100000"/>
                  </a:srgbClr>
                </a:gs>
                <a:gs pos="69000">
                  <a:srgbClr val="4CC9F0">
                    <a:alpha val="100000"/>
                  </a:srgbClr>
                </a:gs>
              </a:gsLst>
              <a:path path="circle">
                <a:fillToRect l="200000" t="200000" r="-100000" b="-100000"/>
              </a:path>
              <a:tileRect r="-300000" b="-300000"/>
            </a:gradFill>
          </p:spPr>
        </p:sp>
      </p:grpSp>
      <p:grpSp>
        <p:nvGrpSpPr>
          <p:cNvPr id="10" name="Group 10"/>
          <p:cNvGrpSpPr/>
          <p:nvPr/>
        </p:nvGrpSpPr>
        <p:grpSpPr>
          <a:xfrm>
            <a:off x="0" y="6924761"/>
            <a:ext cx="18288000" cy="3375469"/>
            <a:chOff x="0" y="0"/>
            <a:chExt cx="24384000" cy="4500626"/>
          </a:xfrm>
        </p:grpSpPr>
        <p:sp>
          <p:nvSpPr>
            <p:cNvPr id="11" name="Freeform 11"/>
            <p:cNvSpPr/>
            <p:nvPr/>
          </p:nvSpPr>
          <p:spPr>
            <a:xfrm>
              <a:off x="0" y="0"/>
              <a:ext cx="24384000" cy="4500626"/>
            </a:xfrm>
            <a:custGeom>
              <a:avLst/>
              <a:gdLst/>
              <a:ahLst/>
              <a:cxnLst/>
              <a:rect l="l" t="t" r="r" b="b"/>
              <a:pathLst>
                <a:path w="24384000" h="4500626">
                  <a:moveTo>
                    <a:pt x="0" y="0"/>
                  </a:moveTo>
                  <a:lnTo>
                    <a:pt x="24384000" y="0"/>
                  </a:lnTo>
                  <a:lnTo>
                    <a:pt x="24384000" y="4500626"/>
                  </a:lnTo>
                  <a:lnTo>
                    <a:pt x="0" y="4500626"/>
                  </a:lnTo>
                  <a:close/>
                </a:path>
              </a:pathLst>
            </a:custGeom>
            <a:gradFill rotWithShape="1">
              <a:gsLst>
                <a:gs pos="0">
                  <a:srgbClr val="2563EB">
                    <a:alpha val="100000"/>
                  </a:srgbClr>
                </a:gs>
                <a:gs pos="53000">
                  <a:srgbClr val="1D3557">
                    <a:alpha val="100000"/>
                  </a:srgbClr>
                </a:gs>
              </a:gsLst>
              <a:path path="circle">
                <a:fillToRect l="200000" t="200000" r="-100000" b="-100000"/>
              </a:path>
              <a:tileRect r="-300000" b="-300000"/>
            </a:gradFill>
          </p:spPr>
        </p:sp>
      </p:grpSp>
      <p:grpSp>
        <p:nvGrpSpPr>
          <p:cNvPr id="12" name="Group 12"/>
          <p:cNvGrpSpPr/>
          <p:nvPr/>
        </p:nvGrpSpPr>
        <p:grpSpPr>
          <a:xfrm rot="5040">
            <a:off x="1026309" y="1071601"/>
            <a:ext cx="16235382" cy="9525"/>
            <a:chOff x="0" y="0"/>
            <a:chExt cx="21647175" cy="12700"/>
          </a:xfrm>
        </p:grpSpPr>
        <p:sp>
          <p:nvSpPr>
            <p:cNvPr id="13" name="Freeform 13"/>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grpSp>
        <p:nvGrpSpPr>
          <p:cNvPr id="14" name="Group 14"/>
          <p:cNvGrpSpPr/>
          <p:nvPr/>
        </p:nvGrpSpPr>
        <p:grpSpPr>
          <a:xfrm rot="5328960">
            <a:off x="15849800" y="3387852"/>
            <a:ext cx="1401832" cy="19050"/>
            <a:chOff x="0" y="0"/>
            <a:chExt cx="1869110" cy="25400"/>
          </a:xfrm>
        </p:grpSpPr>
        <p:sp>
          <p:nvSpPr>
            <p:cNvPr id="15" name="Freeform 15"/>
            <p:cNvSpPr/>
            <p:nvPr/>
          </p:nvSpPr>
          <p:spPr>
            <a:xfrm>
              <a:off x="0" y="0"/>
              <a:ext cx="1869059" cy="25400"/>
            </a:xfrm>
            <a:custGeom>
              <a:avLst/>
              <a:gdLst/>
              <a:ahLst/>
              <a:cxnLst/>
              <a:rect l="l" t="t" r="r" b="b"/>
              <a:pathLst>
                <a:path w="1869059" h="25400">
                  <a:moveTo>
                    <a:pt x="12700" y="0"/>
                  </a:moveTo>
                  <a:lnTo>
                    <a:pt x="1856359" y="0"/>
                  </a:lnTo>
                  <a:cubicBezTo>
                    <a:pt x="1863344" y="0"/>
                    <a:pt x="1869059" y="5715"/>
                    <a:pt x="1869059" y="12700"/>
                  </a:cubicBezTo>
                  <a:cubicBezTo>
                    <a:pt x="1869059" y="19685"/>
                    <a:pt x="1863344" y="25400"/>
                    <a:pt x="1856359" y="25400"/>
                  </a:cubicBezTo>
                  <a:lnTo>
                    <a:pt x="12700" y="25400"/>
                  </a:lnTo>
                  <a:cubicBezTo>
                    <a:pt x="5715" y="25400"/>
                    <a:pt x="0" y="19685"/>
                    <a:pt x="0" y="12700"/>
                  </a:cubicBezTo>
                  <a:cubicBezTo>
                    <a:pt x="0" y="5715"/>
                    <a:pt x="5715" y="0"/>
                    <a:pt x="12700" y="0"/>
                  </a:cubicBezTo>
                  <a:close/>
                </a:path>
              </a:pathLst>
            </a:custGeom>
            <a:solidFill>
              <a:srgbClr val="FFFFFF"/>
            </a:solidFill>
          </p:spPr>
        </p:sp>
      </p:grpSp>
      <p:grpSp>
        <p:nvGrpSpPr>
          <p:cNvPr id="16" name="Group 16"/>
          <p:cNvGrpSpPr/>
          <p:nvPr/>
        </p:nvGrpSpPr>
        <p:grpSpPr>
          <a:xfrm>
            <a:off x="0" y="1069229"/>
            <a:ext cx="4853711" cy="9248118"/>
            <a:chOff x="0" y="0"/>
            <a:chExt cx="6061024" cy="11950332"/>
          </a:xfrm>
        </p:grpSpPr>
        <p:sp>
          <p:nvSpPr>
            <p:cNvPr id="17" name="Freeform 17"/>
            <p:cNvSpPr/>
            <p:nvPr/>
          </p:nvSpPr>
          <p:spPr>
            <a:xfrm>
              <a:off x="0" y="0"/>
              <a:ext cx="6061075" cy="11950319"/>
            </a:xfrm>
            <a:custGeom>
              <a:avLst/>
              <a:gdLst/>
              <a:ahLst/>
              <a:cxnLst/>
              <a:rect l="l" t="t" r="r" b="b"/>
              <a:pathLst>
                <a:path w="6061075" h="11950319">
                  <a:moveTo>
                    <a:pt x="0" y="0"/>
                  </a:moveTo>
                  <a:lnTo>
                    <a:pt x="6061075" y="0"/>
                  </a:lnTo>
                  <a:lnTo>
                    <a:pt x="6061075" y="11950319"/>
                  </a:lnTo>
                  <a:lnTo>
                    <a:pt x="0" y="11950319"/>
                  </a:lnTo>
                  <a:lnTo>
                    <a:pt x="0" y="0"/>
                  </a:lnTo>
                  <a:close/>
                </a:path>
              </a:pathLst>
            </a:custGeom>
            <a:blipFill>
              <a:blip r:embed="rId3"/>
              <a:stretch>
                <a:fillRect l="-5479" r="-5478"/>
              </a:stretch>
            </a:blipFill>
          </p:spPr>
        </p:sp>
      </p:grpSp>
      <p:grpSp>
        <p:nvGrpSpPr>
          <p:cNvPr id="18" name="Group 18"/>
          <p:cNvGrpSpPr/>
          <p:nvPr/>
        </p:nvGrpSpPr>
        <p:grpSpPr>
          <a:xfrm>
            <a:off x="4853750" y="1093022"/>
            <a:ext cx="3600450" cy="3843338"/>
            <a:chOff x="0" y="0"/>
            <a:chExt cx="4800600" cy="5124450"/>
          </a:xfrm>
        </p:grpSpPr>
        <p:sp>
          <p:nvSpPr>
            <p:cNvPr id="19" name="Freeform 19"/>
            <p:cNvSpPr/>
            <p:nvPr/>
          </p:nvSpPr>
          <p:spPr>
            <a:xfrm>
              <a:off x="0" y="0"/>
              <a:ext cx="4800600" cy="5124450"/>
            </a:xfrm>
            <a:custGeom>
              <a:avLst/>
              <a:gdLst/>
              <a:ahLst/>
              <a:cxnLst/>
              <a:rect l="l" t="t" r="r" b="b"/>
              <a:pathLst>
                <a:path w="4800600" h="5124450">
                  <a:moveTo>
                    <a:pt x="0" y="0"/>
                  </a:moveTo>
                  <a:lnTo>
                    <a:pt x="4800600" y="0"/>
                  </a:lnTo>
                  <a:lnTo>
                    <a:pt x="4800600" y="5124450"/>
                  </a:lnTo>
                  <a:lnTo>
                    <a:pt x="0" y="5124450"/>
                  </a:lnTo>
                  <a:lnTo>
                    <a:pt x="0" y="0"/>
                  </a:lnTo>
                  <a:close/>
                </a:path>
              </a:pathLst>
            </a:custGeom>
            <a:blipFill>
              <a:blip r:embed="rId4"/>
              <a:stretch>
                <a:fillRect t="-163" b="-163"/>
              </a:stretch>
            </a:blipFill>
          </p:spPr>
        </p:sp>
      </p:grpSp>
      <p:sp>
        <p:nvSpPr>
          <p:cNvPr id="20" name="TextBox 20"/>
          <p:cNvSpPr txBox="1"/>
          <p:nvPr/>
        </p:nvSpPr>
        <p:spPr>
          <a:xfrm>
            <a:off x="971379" y="377200"/>
            <a:ext cx="10933233" cy="600075"/>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功能设计与实现：远程APP交互与智能感应</a:t>
            </a:r>
          </a:p>
        </p:txBody>
      </p:sp>
      <p:sp>
        <p:nvSpPr>
          <p:cNvPr id="21" name="TextBox 21"/>
          <p:cNvSpPr txBox="1"/>
          <p:nvPr/>
        </p:nvSpPr>
        <p:spPr>
          <a:xfrm>
            <a:off x="9144000" y="2974748"/>
            <a:ext cx="5895588" cy="628694"/>
          </a:xfrm>
          <a:prstGeom prst="rect">
            <a:avLst/>
          </a:prstGeom>
        </p:spPr>
        <p:txBody>
          <a:bodyPr wrap="square" lIns="0" tIns="0" rIns="0" bIns="0" rtlCol="0" anchor="t">
            <a:spAutoFit/>
          </a:bodyPr>
          <a:lstStyle/>
          <a:p>
            <a:pPr marL="0" lvl="0" indent="0" algn="r">
              <a:lnSpc>
                <a:spcPts val="4810"/>
              </a:lnSpc>
              <a:spcBef>
                <a:spcPct val="0"/>
              </a:spcBef>
            </a:pP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远程控制</a:t>
            </a:r>
            <a:r>
              <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rPr>
              <a:t> + </a:t>
            </a:r>
            <a:r>
              <a:rPr lang="en-US" sz="4010" b="1" u="none" strike="noStrike" dirty="0" err="1">
                <a:solidFill>
                  <a:srgbClr val="4CC9F0"/>
                </a:solidFill>
                <a:latin typeface="Arimo Bold" panose="020B0704020202020204"/>
                <a:ea typeface="Arimo Bold" panose="020B0704020202020204"/>
                <a:cs typeface="Arimo Bold" panose="020B0704020202020204"/>
                <a:sym typeface="Arimo Bold" panose="020B0704020202020204"/>
              </a:rPr>
              <a:t>智能感应联动</a:t>
            </a:r>
            <a:endParaRPr lang="en-US" sz="4010" b="1" u="none" strike="noStrike" dirty="0">
              <a:solidFill>
                <a:srgbClr val="4CC9F0"/>
              </a:solidFill>
              <a:latin typeface="Arimo Bold" panose="020B0704020202020204"/>
              <a:ea typeface="Arimo Bold" panose="020B0704020202020204"/>
              <a:cs typeface="Arimo Bold" panose="020B0704020202020204"/>
              <a:sym typeface="Arimo Bold" panose="020B0704020202020204"/>
            </a:endParaRPr>
          </a:p>
        </p:txBody>
      </p:sp>
      <p:sp>
        <p:nvSpPr>
          <p:cNvPr id="22" name="TextBox 22"/>
          <p:cNvSpPr txBox="1"/>
          <p:nvPr/>
        </p:nvSpPr>
        <p:spPr>
          <a:xfrm>
            <a:off x="9368942" y="4176499"/>
            <a:ext cx="4592622" cy="447675"/>
          </a:xfrm>
          <a:prstGeom prst="rect">
            <a:avLst/>
          </a:prstGeom>
        </p:spPr>
        <p:txBody>
          <a:bodyPr lIns="0" tIns="0" rIns="0" bIns="0" rtlCol="0" anchor="t">
            <a:spAutoFit/>
          </a:bodyPr>
          <a:lstStyle/>
          <a:p>
            <a:pPr algn="r">
              <a:lnSpc>
                <a:spcPts val="3240"/>
              </a:lnSpc>
            </a:pPr>
            <a:r>
              <a:rPr lang="en-US" sz="2700">
                <a:solidFill>
                  <a:srgbClr val="183A5A"/>
                </a:solidFill>
                <a:latin typeface="Arimo" panose="020B0604020202020204"/>
                <a:ea typeface="Arimo" panose="020B0604020202020204"/>
                <a:cs typeface="Arimo" panose="020B0604020202020204"/>
                <a:sym typeface="Arimo" panose="020B0604020202020204"/>
              </a:rPr>
              <a:t>基于WiFi实现设备远程通信</a:t>
            </a:r>
          </a:p>
        </p:txBody>
      </p:sp>
      <p:sp>
        <p:nvSpPr>
          <p:cNvPr id="23" name="TextBox 23"/>
          <p:cNvSpPr txBox="1"/>
          <p:nvPr/>
        </p:nvSpPr>
        <p:spPr>
          <a:xfrm>
            <a:off x="7918275" y="5517385"/>
            <a:ext cx="7276690" cy="891616"/>
          </a:xfrm>
          <a:prstGeom prst="rect">
            <a:avLst/>
          </a:prstGeom>
        </p:spPr>
        <p:txBody>
          <a:bodyPr lIns="0" tIns="0" rIns="0" bIns="0" rtlCol="0" anchor="t">
            <a:spAutoFit/>
          </a:bodyPr>
          <a:lstStyle/>
          <a:p>
            <a:pPr algn="ctr">
              <a:lnSpc>
                <a:spcPts val="3450"/>
              </a:lnSpc>
            </a:pPr>
            <a:r>
              <a:rPr lang="en-US" sz="2875">
                <a:solidFill>
                  <a:srgbClr val="183A5A"/>
                </a:solidFill>
                <a:latin typeface="Arimo" panose="020B0604020202020204"/>
                <a:ea typeface="Arimo" panose="020B0604020202020204"/>
                <a:cs typeface="Arimo" panose="020B0604020202020204"/>
                <a:sym typeface="Arimo" panose="020B0604020202020204"/>
              </a:rPr>
              <a:t>支持升降、照明、模式切换与状态查询</a:t>
            </a:r>
          </a:p>
          <a:p>
            <a:pPr algn="ctr">
              <a:lnSpc>
                <a:spcPts val="3450"/>
              </a:lnSpc>
            </a:pPr>
            <a:r>
              <a:rPr lang="en-US" sz="2875">
                <a:solidFill>
                  <a:srgbClr val="183A5A"/>
                </a:solidFill>
                <a:latin typeface="Arimo" panose="020B0604020202020204"/>
                <a:ea typeface="Arimo" panose="020B0604020202020204"/>
                <a:cs typeface="Arimo" panose="020B0604020202020204"/>
                <a:sym typeface="Arimo" panose="020B0604020202020204"/>
              </a:rPr>
              <a:t>结合天气预报实现异常天气自动收衣</a:t>
            </a:r>
          </a:p>
        </p:txBody>
      </p:sp>
      <p:sp>
        <p:nvSpPr>
          <p:cNvPr id="24" name="TextBox 24"/>
          <p:cNvSpPr txBox="1"/>
          <p:nvPr/>
        </p:nvSpPr>
        <p:spPr>
          <a:xfrm>
            <a:off x="5312912" y="7012429"/>
            <a:ext cx="11223517" cy="2908681"/>
          </a:xfrm>
          <a:prstGeom prst="rect">
            <a:avLst/>
          </a:prstGeom>
        </p:spPr>
        <p:txBody>
          <a:bodyPr lIns="0" tIns="0" rIns="0" bIns="0" rtlCol="0" anchor="t">
            <a:spAutoFit/>
          </a:bodyPr>
          <a:lstStyle/>
          <a:p>
            <a:pPr algn="just">
              <a:lnSpc>
                <a:spcPts val="3885"/>
              </a:lnSpc>
            </a:pPr>
            <a:r>
              <a:rPr lang="en-US" sz="2700" b="1">
                <a:solidFill>
                  <a:srgbClr val="E0F2FE"/>
                </a:solidFill>
                <a:latin typeface="Arimo Bold" panose="020B0704020202020204"/>
                <a:ea typeface="Arimo Bold" panose="020B0704020202020204"/>
                <a:cs typeface="Arimo Bold" panose="020B0704020202020204"/>
                <a:sym typeface="Arimo Bold" panose="020B0704020202020204"/>
              </a:rPr>
              <a:t>本系统开发了配套移动客户端，基于WiFi通信技术实现APP与自动晾衣器之间的稳定互联。用户可通过APP远程完成设备升降、照明控制、模式切换、运行状态查询等操作，并实时获取设备反馈信息。同时，系统在软件层面引入智能感应功能，可结合天气预报信息判断外部环境变化。当检测到降雨、大风等不良天气风险时，系统能够自动控制晾衣器收回衣物，减少人工干预，提升设备的安全性、智能化程度与家庭场景适应能力。</a:t>
            </a:r>
          </a:p>
        </p:txBody>
      </p:sp>
      <p:sp>
        <p:nvSpPr>
          <p:cNvPr id="25" name="TextBox 25"/>
          <p:cNvSpPr txBox="1"/>
          <p:nvPr/>
        </p:nvSpPr>
        <p:spPr>
          <a:xfrm>
            <a:off x="7918275" y="1189801"/>
            <a:ext cx="6346365" cy="880072"/>
          </a:xfrm>
          <a:prstGeom prst="rect">
            <a:avLst/>
          </a:prstGeom>
        </p:spPr>
        <p:txBody>
          <a:bodyPr lIns="0" tIns="0" rIns="0" bIns="0" rtlCol="0" anchor="t">
            <a:spAutoFit/>
          </a:bodyPr>
          <a:lstStyle/>
          <a:p>
            <a:pPr algn="r">
              <a:lnSpc>
                <a:spcPts val="7200"/>
              </a:lnSpc>
            </a:pPr>
            <a:r>
              <a:rPr lang="en-US" sz="6000" b="1">
                <a:solidFill>
                  <a:srgbClr val="2563EB"/>
                </a:solidFill>
                <a:latin typeface="Arimo Bold" panose="020B0704020202020204"/>
                <a:ea typeface="Arimo Bold" panose="020B0704020202020204"/>
                <a:cs typeface="Arimo Bold" panose="020B0704020202020204"/>
                <a:sym typeface="Arimo Bold" panose="020B0704020202020204"/>
              </a:rPr>
              <a:t>APP生态建设</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rot="5040">
            <a:off x="1026309" y="1071601"/>
            <a:ext cx="16235382" cy="9525"/>
            <a:chOff x="0" y="0"/>
            <a:chExt cx="21647175" cy="12700"/>
          </a:xfrm>
        </p:grpSpPr>
        <p:sp>
          <p:nvSpPr>
            <p:cNvPr id="9" name="Freeform 9"/>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sp>
        <p:nvSpPr>
          <p:cNvPr id="10" name="Freeform 10"/>
          <p:cNvSpPr/>
          <p:nvPr/>
        </p:nvSpPr>
        <p:spPr>
          <a:xfrm>
            <a:off x="2699318" y="4381182"/>
            <a:ext cx="2355285" cy="2355285"/>
          </a:xfrm>
          <a:custGeom>
            <a:avLst/>
            <a:gdLst/>
            <a:ahLst/>
            <a:cxnLst/>
            <a:rect l="l" t="t" r="r" b="b"/>
            <a:pathLst>
              <a:path w="2355285" h="2355285">
                <a:moveTo>
                  <a:pt x="0" y="0"/>
                </a:moveTo>
                <a:lnTo>
                  <a:pt x="2355285" y="0"/>
                </a:lnTo>
                <a:lnTo>
                  <a:pt x="2355285" y="2355285"/>
                </a:lnTo>
                <a:lnTo>
                  <a:pt x="0" y="23552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11" name="Picture 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rcRect/>
          <a:stretch>
            <a:fillRect/>
          </a:stretch>
        </p:blipFill>
        <p:spPr>
          <a:xfrm>
            <a:off x="2357474" y="1444024"/>
            <a:ext cx="14630400" cy="8229600"/>
          </a:xfrm>
          <a:prstGeom prst="rect">
            <a:avLst/>
          </a:prstGeom>
        </p:spPr>
      </p:pic>
      <p:sp>
        <p:nvSpPr>
          <p:cNvPr id="12" name="TextBox 12"/>
          <p:cNvSpPr txBox="1"/>
          <p:nvPr/>
        </p:nvSpPr>
        <p:spPr>
          <a:xfrm>
            <a:off x="971378" y="377200"/>
            <a:ext cx="7029621" cy="571467"/>
          </a:xfrm>
          <a:prstGeom prst="rect">
            <a:avLst/>
          </a:prstGeom>
        </p:spPr>
        <p:txBody>
          <a:bodyPr wrap="square" lIns="0" tIns="0" rIns="0" bIns="0" rtlCol="0" anchor="t">
            <a:spAutoFit/>
          </a:bodyPr>
          <a:lstStyle/>
          <a:p>
            <a:pPr algn="l">
              <a:lnSpc>
                <a:spcPts val="4320"/>
              </a:lnSpc>
            </a:pPr>
            <a:r>
              <a:rPr lang="en-US" sz="3600" b="1" dirty="0" err="1">
                <a:solidFill>
                  <a:srgbClr val="2563EB"/>
                </a:solidFill>
                <a:latin typeface="Arimo Bold" panose="020B0704020202020204"/>
                <a:ea typeface="Arimo Bold" panose="020B0704020202020204"/>
                <a:cs typeface="Arimo Bold" panose="020B0704020202020204"/>
                <a:sym typeface="Arimo Bold" panose="020B0704020202020204"/>
              </a:rPr>
              <a:t>本项目样机可行性和实用性演示</a:t>
            </a:r>
            <a:r>
              <a:rPr lang="en-US" sz="3600" b="1" dirty="0">
                <a:solidFill>
                  <a:srgbClr val="2563EB"/>
                </a:solidFill>
                <a:latin typeface="Arimo Bold" panose="020B0704020202020204"/>
                <a:ea typeface="Arimo Bold" panose="020B0704020202020204"/>
                <a:cs typeface="Arimo Bold" panose="020B0704020202020204"/>
                <a:sym typeface="Arimo Bold" panose="020B0704020202020204"/>
              </a:rPr>
              <a:t>：</a:t>
            </a:r>
          </a:p>
        </p:txBody>
      </p:sp>
      <p:sp>
        <p:nvSpPr>
          <p:cNvPr id="13" name="TextBox 13"/>
          <p:cNvSpPr txBox="1"/>
          <p:nvPr/>
        </p:nvSpPr>
        <p:spPr>
          <a:xfrm>
            <a:off x="332181" y="1835977"/>
            <a:ext cx="1842413" cy="1727841"/>
          </a:xfrm>
          <a:prstGeom prst="rect">
            <a:avLst/>
          </a:prstGeom>
        </p:spPr>
        <p:txBody>
          <a:bodyPr lIns="0" tIns="0" rIns="0" bIns="0" rtlCol="0" anchor="t">
            <a:spAutoFit/>
          </a:bodyPr>
          <a:lstStyle/>
          <a:p>
            <a:pPr algn="r">
              <a:lnSpc>
                <a:spcPts val="6630"/>
              </a:lnSpc>
            </a:pPr>
            <a:r>
              <a:rPr lang="en-US" sz="5525" b="1">
                <a:solidFill>
                  <a:srgbClr val="000000"/>
                </a:solidFill>
                <a:latin typeface="Arimo Bold" panose="020B0704020202020204"/>
                <a:ea typeface="Arimo Bold" panose="020B0704020202020204"/>
                <a:cs typeface="Arimo Bold" panose="020B0704020202020204"/>
                <a:sym typeface="Arimo Bold" panose="020B0704020202020204"/>
              </a:rPr>
              <a:t>实机演示</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1"/>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0" y="7509668"/>
            <a:ext cx="18288000" cy="9453963"/>
            <a:chOff x="0" y="0"/>
            <a:chExt cx="24384000" cy="12605283"/>
          </a:xfrm>
        </p:grpSpPr>
        <p:sp>
          <p:nvSpPr>
            <p:cNvPr id="9" name="Freeform 9"/>
            <p:cNvSpPr/>
            <p:nvPr/>
          </p:nvSpPr>
          <p:spPr>
            <a:xfrm>
              <a:off x="0" y="0"/>
              <a:ext cx="24384000" cy="12605258"/>
            </a:xfrm>
            <a:custGeom>
              <a:avLst/>
              <a:gdLst/>
              <a:ahLst/>
              <a:cxnLst/>
              <a:rect l="l" t="t" r="r" b="b"/>
              <a:pathLst>
                <a:path w="24384000" h="12605258">
                  <a:moveTo>
                    <a:pt x="0" y="0"/>
                  </a:moveTo>
                  <a:lnTo>
                    <a:pt x="24384000" y="0"/>
                  </a:lnTo>
                  <a:lnTo>
                    <a:pt x="24384000" y="12605258"/>
                  </a:lnTo>
                  <a:lnTo>
                    <a:pt x="0" y="12605258"/>
                  </a:lnTo>
                  <a:lnTo>
                    <a:pt x="0" y="0"/>
                  </a:lnTo>
                  <a:close/>
                </a:path>
              </a:pathLst>
            </a:custGeom>
            <a:blipFill>
              <a:blip r:embed="rId3"/>
              <a:stretch>
                <a:fillRect t="-14480" b="-14481"/>
              </a:stretch>
            </a:blipFill>
          </p:spPr>
        </p:sp>
      </p:grpSp>
      <p:grpSp>
        <p:nvGrpSpPr>
          <p:cNvPr id="10" name="Group 10"/>
          <p:cNvGrpSpPr/>
          <p:nvPr/>
        </p:nvGrpSpPr>
        <p:grpSpPr>
          <a:xfrm rot="5352300">
            <a:off x="3069879" y="3577685"/>
            <a:ext cx="1726454" cy="9525"/>
            <a:chOff x="0" y="0"/>
            <a:chExt cx="2301938" cy="12700"/>
          </a:xfrm>
        </p:grpSpPr>
        <p:sp>
          <p:nvSpPr>
            <p:cNvPr id="11" name="Freeform 11"/>
            <p:cNvSpPr/>
            <p:nvPr/>
          </p:nvSpPr>
          <p:spPr>
            <a:xfrm>
              <a:off x="0" y="0"/>
              <a:ext cx="2302002" cy="12700"/>
            </a:xfrm>
            <a:custGeom>
              <a:avLst/>
              <a:gdLst/>
              <a:ahLst/>
              <a:cxnLst/>
              <a:rect l="l" t="t" r="r" b="b"/>
              <a:pathLst>
                <a:path w="2302002" h="12700">
                  <a:moveTo>
                    <a:pt x="6350" y="0"/>
                  </a:moveTo>
                  <a:lnTo>
                    <a:pt x="2295652" y="0"/>
                  </a:lnTo>
                  <a:cubicBezTo>
                    <a:pt x="2299208" y="0"/>
                    <a:pt x="2302002" y="2794"/>
                    <a:pt x="2302002" y="6350"/>
                  </a:cubicBezTo>
                  <a:cubicBezTo>
                    <a:pt x="2302002" y="9906"/>
                    <a:pt x="2299208" y="12700"/>
                    <a:pt x="2295652"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id="12" name="Group 12"/>
          <p:cNvGrpSpPr/>
          <p:nvPr/>
        </p:nvGrpSpPr>
        <p:grpSpPr>
          <a:xfrm rot="5322180">
            <a:off x="3161633" y="5685653"/>
            <a:ext cx="1554109" cy="9525"/>
            <a:chOff x="0" y="0"/>
            <a:chExt cx="2072145" cy="12700"/>
          </a:xfrm>
        </p:grpSpPr>
        <p:sp>
          <p:nvSpPr>
            <p:cNvPr id="13" name="Freeform 13"/>
            <p:cNvSpPr/>
            <p:nvPr/>
          </p:nvSpPr>
          <p:spPr>
            <a:xfrm>
              <a:off x="0" y="0"/>
              <a:ext cx="2072132" cy="12700"/>
            </a:xfrm>
            <a:custGeom>
              <a:avLst/>
              <a:gdLst/>
              <a:ahLst/>
              <a:cxnLst/>
              <a:rect l="l" t="t" r="r" b="b"/>
              <a:pathLst>
                <a:path w="2072132" h="12700">
                  <a:moveTo>
                    <a:pt x="6350" y="0"/>
                  </a:moveTo>
                  <a:lnTo>
                    <a:pt x="2065782" y="0"/>
                  </a:lnTo>
                  <a:cubicBezTo>
                    <a:pt x="2069338" y="0"/>
                    <a:pt x="2072132" y="2794"/>
                    <a:pt x="2072132" y="6350"/>
                  </a:cubicBezTo>
                  <a:cubicBezTo>
                    <a:pt x="2072132" y="9906"/>
                    <a:pt x="2069338" y="12700"/>
                    <a:pt x="2065782"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id="14" name="Group 14"/>
          <p:cNvGrpSpPr/>
          <p:nvPr/>
        </p:nvGrpSpPr>
        <p:grpSpPr>
          <a:xfrm rot="5349780">
            <a:off x="9438218" y="3540157"/>
            <a:ext cx="1640138" cy="9525"/>
            <a:chOff x="0" y="0"/>
            <a:chExt cx="2186851" cy="12700"/>
          </a:xfrm>
        </p:grpSpPr>
        <p:sp>
          <p:nvSpPr>
            <p:cNvPr id="15" name="Freeform 15"/>
            <p:cNvSpPr/>
            <p:nvPr/>
          </p:nvSpPr>
          <p:spPr>
            <a:xfrm>
              <a:off x="0" y="0"/>
              <a:ext cx="2186813" cy="12700"/>
            </a:xfrm>
            <a:custGeom>
              <a:avLst/>
              <a:gdLst/>
              <a:ahLst/>
              <a:cxnLst/>
              <a:rect l="l" t="t" r="r" b="b"/>
              <a:pathLst>
                <a:path w="2186813" h="12700">
                  <a:moveTo>
                    <a:pt x="6350" y="0"/>
                  </a:moveTo>
                  <a:lnTo>
                    <a:pt x="2180463" y="0"/>
                  </a:lnTo>
                  <a:cubicBezTo>
                    <a:pt x="2184019" y="0"/>
                    <a:pt x="2186813" y="2794"/>
                    <a:pt x="2186813" y="6350"/>
                  </a:cubicBezTo>
                  <a:cubicBezTo>
                    <a:pt x="2186813" y="9906"/>
                    <a:pt x="2184019" y="12700"/>
                    <a:pt x="2180463" y="12700"/>
                  </a:cubicBezTo>
                  <a:lnTo>
                    <a:pt x="6350" y="12700"/>
                  </a:lnTo>
                  <a:cubicBezTo>
                    <a:pt x="2794" y="12700"/>
                    <a:pt x="0" y="9906"/>
                    <a:pt x="0" y="6350"/>
                  </a:cubicBezTo>
                  <a:cubicBezTo>
                    <a:pt x="0" y="2794"/>
                    <a:pt x="2794" y="0"/>
                    <a:pt x="6350" y="0"/>
                  </a:cubicBezTo>
                  <a:close/>
                </a:path>
              </a:pathLst>
            </a:custGeom>
            <a:solidFill>
              <a:srgbClr val="FFFFFF"/>
            </a:solidFill>
          </p:spPr>
        </p:sp>
      </p:grpSp>
      <p:grpSp>
        <p:nvGrpSpPr>
          <p:cNvPr id="16" name="Group 16"/>
          <p:cNvGrpSpPr/>
          <p:nvPr/>
        </p:nvGrpSpPr>
        <p:grpSpPr>
          <a:xfrm rot="5349720">
            <a:off x="9439751" y="5688140"/>
            <a:ext cx="1637062" cy="9525"/>
            <a:chOff x="0" y="0"/>
            <a:chExt cx="2182749" cy="12700"/>
          </a:xfrm>
        </p:grpSpPr>
        <p:sp>
          <p:nvSpPr>
            <p:cNvPr id="17" name="Freeform 17"/>
            <p:cNvSpPr/>
            <p:nvPr/>
          </p:nvSpPr>
          <p:spPr>
            <a:xfrm>
              <a:off x="0" y="0"/>
              <a:ext cx="2182749" cy="12700"/>
            </a:xfrm>
            <a:custGeom>
              <a:avLst/>
              <a:gdLst/>
              <a:ahLst/>
              <a:cxnLst/>
              <a:rect l="l" t="t" r="r" b="b"/>
              <a:pathLst>
                <a:path w="2182749" h="12700">
                  <a:moveTo>
                    <a:pt x="6350" y="0"/>
                  </a:moveTo>
                  <a:lnTo>
                    <a:pt x="2176399" y="0"/>
                  </a:lnTo>
                  <a:cubicBezTo>
                    <a:pt x="2179955" y="0"/>
                    <a:pt x="2182749" y="2794"/>
                    <a:pt x="2182749" y="6350"/>
                  </a:cubicBezTo>
                  <a:cubicBezTo>
                    <a:pt x="2182749" y="9906"/>
                    <a:pt x="2179955" y="12700"/>
                    <a:pt x="2176399" y="12700"/>
                  </a:cubicBezTo>
                  <a:lnTo>
                    <a:pt x="6350" y="12700"/>
                  </a:lnTo>
                  <a:cubicBezTo>
                    <a:pt x="2794" y="12700"/>
                    <a:pt x="0" y="9906"/>
                    <a:pt x="0" y="6350"/>
                  </a:cubicBezTo>
                  <a:cubicBezTo>
                    <a:pt x="0" y="2794"/>
                    <a:pt x="2794" y="0"/>
                    <a:pt x="6350" y="0"/>
                  </a:cubicBezTo>
                  <a:close/>
                </a:path>
              </a:pathLst>
            </a:custGeom>
            <a:solidFill>
              <a:srgbClr val="FFFFFF"/>
            </a:solidFill>
          </p:spPr>
        </p:sp>
      </p:grpSp>
      <p:sp>
        <p:nvSpPr>
          <p:cNvPr id="18" name="Freeform 18"/>
          <p:cNvSpPr/>
          <p:nvPr/>
        </p:nvSpPr>
        <p:spPr>
          <a:xfrm>
            <a:off x="2156911" y="2382826"/>
            <a:ext cx="435969" cy="435969"/>
          </a:xfrm>
          <a:custGeom>
            <a:avLst/>
            <a:gdLst/>
            <a:ahLst/>
            <a:cxnLst/>
            <a:rect l="l" t="t" r="r" b="b"/>
            <a:pathLst>
              <a:path w="435969" h="435969">
                <a:moveTo>
                  <a:pt x="0" y="0"/>
                </a:moveTo>
                <a:lnTo>
                  <a:pt x="435969" y="0"/>
                </a:lnTo>
                <a:lnTo>
                  <a:pt x="435969" y="435969"/>
                </a:lnTo>
                <a:lnTo>
                  <a:pt x="0" y="4359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Freeform 19"/>
          <p:cNvSpPr/>
          <p:nvPr/>
        </p:nvSpPr>
        <p:spPr>
          <a:xfrm>
            <a:off x="9839060" y="2393790"/>
            <a:ext cx="435969" cy="435969"/>
          </a:xfrm>
          <a:custGeom>
            <a:avLst/>
            <a:gdLst/>
            <a:ahLst/>
            <a:cxnLst/>
            <a:rect l="l" t="t" r="r" b="b"/>
            <a:pathLst>
              <a:path w="435969" h="435969">
                <a:moveTo>
                  <a:pt x="0" y="0"/>
                </a:moveTo>
                <a:lnTo>
                  <a:pt x="435968" y="0"/>
                </a:lnTo>
                <a:lnTo>
                  <a:pt x="435968" y="435968"/>
                </a:lnTo>
                <a:lnTo>
                  <a:pt x="0" y="43596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0" name="Freeform 20"/>
          <p:cNvSpPr/>
          <p:nvPr/>
        </p:nvSpPr>
        <p:spPr>
          <a:xfrm>
            <a:off x="2246475" y="5130278"/>
            <a:ext cx="346405" cy="346405"/>
          </a:xfrm>
          <a:custGeom>
            <a:avLst/>
            <a:gdLst/>
            <a:ahLst/>
            <a:cxnLst/>
            <a:rect l="l" t="t" r="r" b="b"/>
            <a:pathLst>
              <a:path w="346405" h="346405">
                <a:moveTo>
                  <a:pt x="0" y="0"/>
                </a:moveTo>
                <a:lnTo>
                  <a:pt x="346405" y="0"/>
                </a:lnTo>
                <a:lnTo>
                  <a:pt x="346405" y="346405"/>
                </a:lnTo>
                <a:lnTo>
                  <a:pt x="0" y="34640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21" name="Group 21"/>
          <p:cNvGrpSpPr/>
          <p:nvPr/>
        </p:nvGrpSpPr>
        <p:grpSpPr>
          <a:xfrm rot="5040">
            <a:off x="1026309" y="1071601"/>
            <a:ext cx="16235382" cy="9525"/>
            <a:chOff x="0" y="0"/>
            <a:chExt cx="21647175" cy="12700"/>
          </a:xfrm>
        </p:grpSpPr>
        <p:sp>
          <p:nvSpPr>
            <p:cNvPr id="22" name="Freeform 22"/>
            <p:cNvSpPr/>
            <p:nvPr/>
          </p:nvSpPr>
          <p:spPr>
            <a:xfrm>
              <a:off x="0" y="0"/>
              <a:ext cx="21647150" cy="12700"/>
            </a:xfrm>
            <a:custGeom>
              <a:avLst/>
              <a:gdLst/>
              <a:ahLst/>
              <a:cxnLst/>
              <a:rect l="l" t="t" r="r" b="b"/>
              <a:pathLst>
                <a:path w="21647150" h="12700">
                  <a:moveTo>
                    <a:pt x="6350" y="0"/>
                  </a:moveTo>
                  <a:lnTo>
                    <a:pt x="21640800" y="0"/>
                  </a:lnTo>
                  <a:cubicBezTo>
                    <a:pt x="21644356" y="0"/>
                    <a:pt x="21647150" y="2794"/>
                    <a:pt x="21647150" y="6350"/>
                  </a:cubicBezTo>
                  <a:cubicBezTo>
                    <a:pt x="21647150" y="9906"/>
                    <a:pt x="21644356" y="12700"/>
                    <a:pt x="21640800" y="12700"/>
                  </a:cubicBezTo>
                  <a:lnTo>
                    <a:pt x="6350" y="12700"/>
                  </a:lnTo>
                  <a:cubicBezTo>
                    <a:pt x="2794" y="12700"/>
                    <a:pt x="0" y="9906"/>
                    <a:pt x="0" y="6350"/>
                  </a:cubicBezTo>
                  <a:cubicBezTo>
                    <a:pt x="0" y="2794"/>
                    <a:pt x="2794" y="0"/>
                    <a:pt x="6350" y="0"/>
                  </a:cubicBezTo>
                  <a:close/>
                </a:path>
              </a:pathLst>
            </a:custGeom>
            <a:solidFill>
              <a:srgbClr val="183A5A"/>
            </a:solidFill>
          </p:spPr>
        </p:sp>
      </p:grpSp>
      <p:sp>
        <p:nvSpPr>
          <p:cNvPr id="23" name="TextBox 23"/>
          <p:cNvSpPr txBox="1"/>
          <p:nvPr/>
        </p:nvSpPr>
        <p:spPr>
          <a:xfrm>
            <a:off x="971379" y="377200"/>
            <a:ext cx="3736617"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总结产品创新点</a:t>
            </a:r>
          </a:p>
        </p:txBody>
      </p:sp>
      <p:sp>
        <p:nvSpPr>
          <p:cNvPr id="24" name="TextBox 24"/>
          <p:cNvSpPr txBox="1"/>
          <p:nvPr/>
        </p:nvSpPr>
        <p:spPr>
          <a:xfrm>
            <a:off x="1921539" y="1357413"/>
            <a:ext cx="15208222" cy="741102"/>
          </a:xfrm>
          <a:prstGeom prst="rect">
            <a:avLst/>
          </a:prstGeom>
        </p:spPr>
        <p:txBody>
          <a:bodyPr lIns="0" tIns="0" rIns="0" bIns="0" rtlCol="0" anchor="t">
            <a:spAutoFit/>
          </a:bodyPr>
          <a:lstStyle/>
          <a:p>
            <a:pPr algn="l">
              <a:lnSpc>
                <a:spcPts val="5620"/>
              </a:lnSpc>
            </a:pPr>
            <a:r>
              <a:rPr lang="en-US" sz="4680" b="1">
                <a:solidFill>
                  <a:srgbClr val="7C3AED"/>
                </a:solidFill>
                <a:latin typeface="Arimo Bold" panose="020B0704020202020204"/>
                <a:ea typeface="Arimo Bold" panose="020B0704020202020204"/>
                <a:cs typeface="Arimo Bold" panose="020B0704020202020204"/>
                <a:sym typeface="Arimo Bold" panose="020B0704020202020204"/>
              </a:rPr>
              <a:t>有衣有靠：</a:t>
            </a:r>
            <a:r>
              <a:rPr lang="en-US" sz="4680">
                <a:solidFill>
                  <a:srgbClr val="7C3AED"/>
                </a:solidFill>
                <a:latin typeface="Arimo" panose="020B0604020202020204"/>
                <a:ea typeface="Arimo" panose="020B0604020202020204"/>
                <a:cs typeface="Arimo" panose="020B0604020202020204"/>
                <a:sym typeface="Arimo" panose="020B0604020202020204"/>
              </a:rPr>
              <a:t>基于语音识别和YOLOV8的智能自动晾衣机</a:t>
            </a:r>
          </a:p>
        </p:txBody>
      </p:sp>
      <p:sp>
        <p:nvSpPr>
          <p:cNvPr id="25" name="TextBox 25"/>
          <p:cNvSpPr txBox="1"/>
          <p:nvPr/>
        </p:nvSpPr>
        <p:spPr>
          <a:xfrm>
            <a:off x="2839687" y="2286133"/>
            <a:ext cx="3236281" cy="571500"/>
          </a:xfrm>
          <a:prstGeom prst="rect">
            <a:avLst/>
          </a:prstGeom>
        </p:spPr>
        <p:txBody>
          <a:bodyPr lIns="0" tIns="0" rIns="0" bIns="0" rtlCol="0" anchor="t">
            <a:spAutoFit/>
          </a:bodyPr>
          <a:lstStyle/>
          <a:p>
            <a:pPr algn="l">
              <a:lnSpc>
                <a:spcPts val="4320"/>
              </a:lnSpc>
            </a:pPr>
            <a:r>
              <a:rPr lang="en-US" sz="3600" b="1">
                <a:solidFill>
                  <a:srgbClr val="D03E25"/>
                </a:solidFill>
                <a:latin typeface="Arimo Bold" panose="020B0704020202020204"/>
                <a:ea typeface="Arimo Bold" panose="020B0704020202020204"/>
                <a:cs typeface="Arimo Bold" panose="020B0704020202020204"/>
                <a:sym typeface="Arimo Bold" panose="020B0704020202020204"/>
              </a:rPr>
              <a:t>自动夹取和撑挂</a:t>
            </a:r>
          </a:p>
        </p:txBody>
      </p:sp>
      <p:sp>
        <p:nvSpPr>
          <p:cNvPr id="26" name="TextBox 26"/>
          <p:cNvSpPr txBox="1"/>
          <p:nvPr/>
        </p:nvSpPr>
        <p:spPr>
          <a:xfrm>
            <a:off x="2839687" y="3010033"/>
            <a:ext cx="4626887" cy="1855436"/>
          </a:xfrm>
          <a:prstGeom prst="rect">
            <a:avLst/>
          </a:prstGeom>
        </p:spPr>
        <p:txBody>
          <a:bodyPr lIns="0" tIns="0" rIns="0" bIns="0" rtlCol="0" anchor="t">
            <a:spAutoFit/>
          </a:bodyPr>
          <a:lstStyle/>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自主导航移动载衣平台</a:t>
            </a:r>
          </a:p>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机械、视觉协同夹爪夹取衣物</a:t>
            </a:r>
          </a:p>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升降机构将衣物升起</a:t>
            </a:r>
          </a:p>
          <a:p>
            <a:pPr algn="l">
              <a:lnSpc>
                <a:spcPts val="3700"/>
              </a:lnSpc>
            </a:pPr>
            <a:r>
              <a:rPr lang="en-US" sz="2570" b="1">
                <a:solidFill>
                  <a:srgbClr val="183A5A"/>
                </a:solidFill>
                <a:latin typeface="Arimo Bold" panose="020B0704020202020204"/>
                <a:ea typeface="Arimo Bold" panose="020B0704020202020204"/>
                <a:cs typeface="Arimo Bold" panose="020B0704020202020204"/>
                <a:sym typeface="Arimo Bold" panose="020B0704020202020204"/>
              </a:rPr>
              <a:t>齿轮开合式可变径衣架撑挂衣物</a:t>
            </a:r>
          </a:p>
        </p:txBody>
      </p:sp>
      <p:sp>
        <p:nvSpPr>
          <p:cNvPr id="27" name="TextBox 27"/>
          <p:cNvSpPr txBox="1"/>
          <p:nvPr/>
        </p:nvSpPr>
        <p:spPr>
          <a:xfrm>
            <a:off x="10608390" y="4656984"/>
            <a:ext cx="5544264" cy="1226317"/>
          </a:xfrm>
          <a:prstGeom prst="rect">
            <a:avLst/>
          </a:prstGeom>
        </p:spPr>
        <p:txBody>
          <a:bodyPr lIns="0" tIns="0" rIns="0" bIns="0" rtlCol="0" anchor="t">
            <a:spAutoFit/>
          </a:bodyPr>
          <a:lstStyle/>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YOLOv8 识别衣物区域</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领口关键点定位 + TF 坐标变换</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为夹爪自动对准提供位姿依据</a:t>
            </a:r>
          </a:p>
        </p:txBody>
      </p:sp>
      <p:sp>
        <p:nvSpPr>
          <p:cNvPr id="28" name="TextBox 28"/>
          <p:cNvSpPr txBox="1"/>
          <p:nvPr/>
        </p:nvSpPr>
        <p:spPr>
          <a:xfrm>
            <a:off x="10566149" y="2300762"/>
            <a:ext cx="3928571" cy="571500"/>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多模态智能交互</a:t>
            </a:r>
          </a:p>
        </p:txBody>
      </p:sp>
      <p:sp>
        <p:nvSpPr>
          <p:cNvPr id="29" name="TextBox 29"/>
          <p:cNvSpPr txBox="1"/>
          <p:nvPr/>
        </p:nvSpPr>
        <p:spPr>
          <a:xfrm>
            <a:off x="10566149" y="2859076"/>
            <a:ext cx="6394827" cy="1635983"/>
          </a:xfrm>
          <a:prstGeom prst="rect">
            <a:avLst/>
          </a:prstGeom>
        </p:spPr>
        <p:txBody>
          <a:bodyPr lIns="0" tIns="0" rIns="0" bIns="0" rtlCol="0" anchor="t">
            <a:spAutoFit/>
          </a:bodyPr>
          <a:lstStyle/>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ESP32 本地语音识别</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OLED 实时状态显示</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APP 远程控制与状态查看</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接衣→抓取→套挂→移位晾晒全流程自动化闭环</a:t>
            </a:r>
          </a:p>
        </p:txBody>
      </p:sp>
      <p:sp>
        <p:nvSpPr>
          <p:cNvPr id="30" name="TextBox 30"/>
          <p:cNvSpPr txBox="1"/>
          <p:nvPr/>
        </p:nvSpPr>
        <p:spPr>
          <a:xfrm>
            <a:off x="2795099" y="5055969"/>
            <a:ext cx="3825792" cy="571522"/>
          </a:xfrm>
          <a:prstGeom prst="rect">
            <a:avLst/>
          </a:prstGeom>
        </p:spPr>
        <p:txBody>
          <a:bodyPr lIns="0" tIns="0" rIns="0" bIns="0" rtlCol="0" anchor="t">
            <a:spAutoFit/>
          </a:bodyPr>
          <a:lstStyle/>
          <a:p>
            <a:pPr algn="l">
              <a:lnSpc>
                <a:spcPts val="4320"/>
              </a:lnSpc>
            </a:pPr>
            <a:r>
              <a:rPr lang="en-US" sz="3600" b="1">
                <a:solidFill>
                  <a:srgbClr val="2563EB"/>
                </a:solidFill>
                <a:latin typeface="Arimo Bold" panose="020B0704020202020204"/>
                <a:ea typeface="Arimo Bold" panose="020B0704020202020204"/>
                <a:cs typeface="Arimo Bold" panose="020B0704020202020204"/>
                <a:sym typeface="Arimo Bold" panose="020B0704020202020204"/>
              </a:rPr>
              <a:t>场景化连续晾晒</a:t>
            </a:r>
          </a:p>
        </p:txBody>
      </p:sp>
      <p:sp>
        <p:nvSpPr>
          <p:cNvPr id="31" name="TextBox 31"/>
          <p:cNvSpPr txBox="1"/>
          <p:nvPr/>
        </p:nvSpPr>
        <p:spPr>
          <a:xfrm>
            <a:off x="2839687" y="5816626"/>
            <a:ext cx="6011008" cy="1226317"/>
          </a:xfrm>
          <a:prstGeom prst="rect">
            <a:avLst/>
          </a:prstGeom>
        </p:spPr>
        <p:txBody>
          <a:bodyPr lIns="0" tIns="0" rIns="0" bIns="0" rtlCol="0" anchor="t">
            <a:spAutoFit/>
          </a:bodyPr>
          <a:lstStyle/>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传送带式晾衣杆实现多件衣物连续挂放</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结合天气信息自动收衣</a:t>
            </a:r>
          </a:p>
          <a:p>
            <a:pPr algn="l">
              <a:lnSpc>
                <a:spcPts val="3265"/>
              </a:lnSpc>
            </a:pPr>
            <a:r>
              <a:rPr lang="en-US" sz="2270">
                <a:solidFill>
                  <a:srgbClr val="183A5A"/>
                </a:solidFill>
                <a:latin typeface="Arimo" panose="020B0604020202020204"/>
                <a:ea typeface="Arimo" panose="020B0604020202020204"/>
                <a:cs typeface="Arimo" panose="020B0604020202020204"/>
                <a:sym typeface="Arimo" panose="020B0604020202020204"/>
              </a:rPr>
              <a:t>更贴近真实家庭晾晒场景</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grpSp>
        <p:nvGrpSpPr>
          <p:cNvPr id="2" name="Group 2"/>
          <p:cNvGrpSpPr/>
          <p:nvPr/>
        </p:nvGrpSpPr>
        <p:grpSpPr>
          <a:xfrm>
            <a:off x="548640" y="329184"/>
            <a:ext cx="1097280" cy="36576"/>
            <a:chOff x="0" y="0"/>
            <a:chExt cx="1463040" cy="48768"/>
          </a:xfrm>
        </p:grpSpPr>
        <p:sp>
          <p:nvSpPr>
            <p:cNvPr id="3" name="Freeform 3"/>
            <p:cNvSpPr/>
            <p:nvPr/>
          </p:nvSpPr>
          <p:spPr>
            <a:xfrm>
              <a:off x="0" y="0"/>
              <a:ext cx="1463040" cy="48768"/>
            </a:xfrm>
            <a:custGeom>
              <a:avLst/>
              <a:gdLst/>
              <a:ahLst/>
              <a:cxnLst/>
              <a:rect l="l" t="t" r="r" b="b"/>
              <a:pathLst>
                <a:path w="1463040" h="48768">
                  <a:moveTo>
                    <a:pt x="0" y="0"/>
                  </a:moveTo>
                  <a:lnTo>
                    <a:pt x="1463040" y="0"/>
                  </a:lnTo>
                  <a:lnTo>
                    <a:pt x="1463040" y="48768"/>
                  </a:lnTo>
                  <a:lnTo>
                    <a:pt x="0" y="48768"/>
                  </a:lnTo>
                  <a:close/>
                </a:path>
              </a:pathLst>
            </a:custGeom>
            <a:solidFill>
              <a:srgbClr val="4CC9F0"/>
            </a:solidFill>
          </p:spPr>
        </p:sp>
      </p:grpSp>
      <p:grpSp>
        <p:nvGrpSpPr>
          <p:cNvPr id="4" name="Group 4"/>
          <p:cNvGrpSpPr/>
          <p:nvPr/>
        </p:nvGrpSpPr>
        <p:grpSpPr>
          <a:xfrm>
            <a:off x="14264640" y="8846820"/>
            <a:ext cx="4389120" cy="1851660"/>
            <a:chOff x="0" y="0"/>
            <a:chExt cx="5852160" cy="2468880"/>
          </a:xfrm>
        </p:grpSpPr>
        <p:sp>
          <p:nvSpPr>
            <p:cNvPr id="5" name="Freeform 5"/>
            <p:cNvSpPr/>
            <p:nvPr/>
          </p:nvSpPr>
          <p:spPr>
            <a:xfrm>
              <a:off x="0" y="0"/>
              <a:ext cx="5852160" cy="2468880"/>
            </a:xfrm>
            <a:custGeom>
              <a:avLst/>
              <a:gdLst/>
              <a:ahLst/>
              <a:cxnLst/>
              <a:rect l="l" t="t" r="r" b="b"/>
              <a:pathLst>
                <a:path w="5852160" h="2468880">
                  <a:moveTo>
                    <a:pt x="0" y="411480"/>
                  </a:moveTo>
                  <a:cubicBezTo>
                    <a:pt x="0" y="184277"/>
                    <a:pt x="184277" y="0"/>
                    <a:pt x="411480" y="0"/>
                  </a:cubicBezTo>
                  <a:lnTo>
                    <a:pt x="5440680" y="0"/>
                  </a:lnTo>
                  <a:cubicBezTo>
                    <a:pt x="5667883" y="0"/>
                    <a:pt x="5852160" y="184277"/>
                    <a:pt x="5852160" y="411480"/>
                  </a:cubicBezTo>
                  <a:lnTo>
                    <a:pt x="5852160" y="2057400"/>
                  </a:lnTo>
                  <a:cubicBezTo>
                    <a:pt x="5852160" y="2284603"/>
                    <a:pt x="5667883" y="2468880"/>
                    <a:pt x="5440680" y="2468880"/>
                  </a:cubicBezTo>
                  <a:lnTo>
                    <a:pt x="411480" y="2468880"/>
                  </a:lnTo>
                  <a:cubicBezTo>
                    <a:pt x="184277" y="2468880"/>
                    <a:pt x="0" y="2284603"/>
                    <a:pt x="0" y="2057400"/>
                  </a:cubicBezTo>
                  <a:close/>
                </a:path>
              </a:pathLst>
            </a:custGeom>
            <a:solidFill>
              <a:srgbClr val="ECF4FF"/>
            </a:solidFill>
          </p:spPr>
        </p:sp>
      </p:grpSp>
      <p:grpSp>
        <p:nvGrpSpPr>
          <p:cNvPr id="6" name="Group 6"/>
          <p:cNvGrpSpPr/>
          <p:nvPr/>
        </p:nvGrpSpPr>
        <p:grpSpPr>
          <a:xfrm>
            <a:off x="0" y="0"/>
            <a:ext cx="18288000" cy="292608"/>
            <a:chOff x="0" y="0"/>
            <a:chExt cx="24384000" cy="390144"/>
          </a:xfrm>
        </p:grpSpPr>
        <p:sp>
          <p:nvSpPr>
            <p:cNvPr id="7" name="Freeform 7"/>
            <p:cNvSpPr/>
            <p:nvPr/>
          </p:nvSpPr>
          <p:spPr>
            <a:xfrm>
              <a:off x="0" y="0"/>
              <a:ext cx="24384000" cy="390144"/>
            </a:xfrm>
            <a:custGeom>
              <a:avLst/>
              <a:gdLst/>
              <a:ahLst/>
              <a:cxnLst/>
              <a:rect l="l" t="t" r="r" b="b"/>
              <a:pathLst>
                <a:path w="24384000" h="390144">
                  <a:moveTo>
                    <a:pt x="0" y="0"/>
                  </a:moveTo>
                  <a:lnTo>
                    <a:pt x="24384000" y="0"/>
                  </a:lnTo>
                  <a:lnTo>
                    <a:pt x="24384000" y="390144"/>
                  </a:lnTo>
                  <a:lnTo>
                    <a:pt x="0" y="390144"/>
                  </a:lnTo>
                  <a:close/>
                </a:path>
              </a:pathLst>
            </a:custGeom>
            <a:solidFill>
              <a:srgbClr val="E8F2FF"/>
            </a:solidFill>
          </p:spPr>
        </p:sp>
      </p:grpSp>
      <p:grpSp>
        <p:nvGrpSpPr>
          <p:cNvPr id="8" name="Group 8"/>
          <p:cNvGrpSpPr/>
          <p:nvPr/>
        </p:nvGrpSpPr>
        <p:grpSpPr>
          <a:xfrm>
            <a:off x="600466" y="2617308"/>
            <a:ext cx="10376059" cy="3934492"/>
            <a:chOff x="0" y="0"/>
            <a:chExt cx="13834745" cy="5245989"/>
          </a:xfrm>
        </p:grpSpPr>
        <p:sp>
          <p:nvSpPr>
            <p:cNvPr id="9" name="Freeform 9"/>
            <p:cNvSpPr/>
            <p:nvPr/>
          </p:nvSpPr>
          <p:spPr>
            <a:xfrm>
              <a:off x="0" y="0"/>
              <a:ext cx="13834745" cy="5245989"/>
            </a:xfrm>
            <a:custGeom>
              <a:avLst/>
              <a:gdLst/>
              <a:ahLst/>
              <a:cxnLst/>
              <a:rect l="l" t="t" r="r" b="b"/>
              <a:pathLst>
                <a:path w="13834745" h="5245989">
                  <a:moveTo>
                    <a:pt x="0" y="136652"/>
                  </a:moveTo>
                  <a:cubicBezTo>
                    <a:pt x="0" y="61214"/>
                    <a:pt x="61214" y="0"/>
                    <a:pt x="136652" y="0"/>
                  </a:cubicBezTo>
                  <a:lnTo>
                    <a:pt x="13698093" y="0"/>
                  </a:lnTo>
                  <a:cubicBezTo>
                    <a:pt x="13773531" y="0"/>
                    <a:pt x="13834745" y="61214"/>
                    <a:pt x="13834745" y="136652"/>
                  </a:cubicBezTo>
                  <a:lnTo>
                    <a:pt x="13834745" y="5109337"/>
                  </a:lnTo>
                  <a:cubicBezTo>
                    <a:pt x="13834745" y="5184775"/>
                    <a:pt x="13773531" y="5245989"/>
                    <a:pt x="13698093" y="5245989"/>
                  </a:cubicBezTo>
                  <a:lnTo>
                    <a:pt x="136652" y="5245989"/>
                  </a:lnTo>
                  <a:cubicBezTo>
                    <a:pt x="61214" y="5245989"/>
                    <a:pt x="0" y="5184775"/>
                    <a:pt x="0" y="5109337"/>
                  </a:cubicBezTo>
                  <a:close/>
                </a:path>
              </a:pathLst>
            </a:custGeom>
            <a:gradFill rotWithShape="1">
              <a:gsLst>
                <a:gs pos="32000">
                  <a:srgbClr val="1D3557">
                    <a:alpha val="100000"/>
                  </a:srgbClr>
                </a:gs>
                <a:gs pos="100000">
                  <a:srgbClr val="2563EB">
                    <a:alpha val="100000"/>
                  </a:srgbClr>
                </a:gs>
              </a:gsLst>
              <a:lin ang="4320000"/>
            </a:gradFill>
          </p:spPr>
        </p:sp>
      </p:grpSp>
      <p:grpSp>
        <p:nvGrpSpPr>
          <p:cNvPr id="10" name="Group 10"/>
          <p:cNvGrpSpPr/>
          <p:nvPr/>
        </p:nvGrpSpPr>
        <p:grpSpPr>
          <a:xfrm>
            <a:off x="890283" y="678704"/>
            <a:ext cx="95250" cy="1158240"/>
            <a:chOff x="0" y="0"/>
            <a:chExt cx="127000" cy="1544320"/>
          </a:xfrm>
        </p:grpSpPr>
        <p:sp>
          <p:nvSpPr>
            <p:cNvPr id="11" name="Freeform 11"/>
            <p:cNvSpPr/>
            <p:nvPr/>
          </p:nvSpPr>
          <p:spPr>
            <a:xfrm>
              <a:off x="0" y="0"/>
              <a:ext cx="127000" cy="1544320"/>
            </a:xfrm>
            <a:custGeom>
              <a:avLst/>
              <a:gdLst/>
              <a:ahLst/>
              <a:cxnLst/>
              <a:rect l="l" t="t" r="r" b="b"/>
              <a:pathLst>
                <a:path w="127000" h="1544320">
                  <a:moveTo>
                    <a:pt x="0" y="0"/>
                  </a:moveTo>
                  <a:lnTo>
                    <a:pt x="127000" y="0"/>
                  </a:lnTo>
                  <a:lnTo>
                    <a:pt x="127000" y="1544320"/>
                  </a:lnTo>
                  <a:lnTo>
                    <a:pt x="0" y="1544320"/>
                  </a:lnTo>
                  <a:close/>
                </a:path>
              </a:pathLst>
            </a:custGeom>
            <a:solidFill>
              <a:srgbClr val="1D3557"/>
            </a:solidFill>
          </p:spPr>
        </p:sp>
      </p:grpSp>
      <p:grpSp>
        <p:nvGrpSpPr>
          <p:cNvPr id="12" name="Group 12"/>
          <p:cNvGrpSpPr/>
          <p:nvPr/>
        </p:nvGrpSpPr>
        <p:grpSpPr>
          <a:xfrm rot="5365080">
            <a:off x="3936197" y="8395840"/>
            <a:ext cx="2352942" cy="9525"/>
            <a:chOff x="0" y="0"/>
            <a:chExt cx="3137256" cy="12700"/>
          </a:xfrm>
        </p:grpSpPr>
        <p:sp>
          <p:nvSpPr>
            <p:cNvPr id="13" name="Freeform 13"/>
            <p:cNvSpPr/>
            <p:nvPr/>
          </p:nvSpPr>
          <p:spPr>
            <a:xfrm>
              <a:off x="0" y="0"/>
              <a:ext cx="3137281" cy="12700"/>
            </a:xfrm>
            <a:custGeom>
              <a:avLst/>
              <a:gdLst/>
              <a:ahLst/>
              <a:cxnLst/>
              <a:rect l="l" t="t" r="r" b="b"/>
              <a:pathLst>
                <a:path w="3137281" h="12700">
                  <a:moveTo>
                    <a:pt x="6350" y="0"/>
                  </a:moveTo>
                  <a:lnTo>
                    <a:pt x="3130931" y="0"/>
                  </a:lnTo>
                  <a:cubicBezTo>
                    <a:pt x="3134487" y="0"/>
                    <a:pt x="3137281" y="2794"/>
                    <a:pt x="3137281" y="6350"/>
                  </a:cubicBezTo>
                  <a:cubicBezTo>
                    <a:pt x="3137281" y="9906"/>
                    <a:pt x="3134487" y="12700"/>
                    <a:pt x="3130931" y="12700"/>
                  </a:cubicBezTo>
                  <a:lnTo>
                    <a:pt x="6350" y="12700"/>
                  </a:lnTo>
                  <a:cubicBezTo>
                    <a:pt x="2794" y="12700"/>
                    <a:pt x="0" y="9906"/>
                    <a:pt x="0" y="6350"/>
                  </a:cubicBezTo>
                  <a:cubicBezTo>
                    <a:pt x="0" y="2794"/>
                    <a:pt x="2794" y="0"/>
                    <a:pt x="6350" y="0"/>
                  </a:cubicBezTo>
                  <a:close/>
                </a:path>
              </a:pathLst>
            </a:custGeom>
            <a:solidFill>
              <a:srgbClr val="1D3557"/>
            </a:solidFill>
          </p:spPr>
        </p:sp>
      </p:grpSp>
      <p:sp>
        <p:nvSpPr>
          <p:cNvPr id="14" name="Freeform 14"/>
          <p:cNvSpPr/>
          <p:nvPr/>
        </p:nvSpPr>
        <p:spPr>
          <a:xfrm>
            <a:off x="11176483" y="351434"/>
            <a:ext cx="7311542" cy="10188512"/>
          </a:xfrm>
          <a:custGeom>
            <a:avLst/>
            <a:gdLst/>
            <a:ahLst/>
            <a:cxnLst/>
            <a:rect l="l" t="t" r="r" b="b"/>
            <a:pathLst>
              <a:path w="7311542" h="10188512">
                <a:moveTo>
                  <a:pt x="0" y="0"/>
                </a:moveTo>
                <a:lnTo>
                  <a:pt x="7311542" y="0"/>
                </a:lnTo>
                <a:lnTo>
                  <a:pt x="7311542" y="10188512"/>
                </a:lnTo>
                <a:lnTo>
                  <a:pt x="0" y="10188512"/>
                </a:lnTo>
                <a:lnTo>
                  <a:pt x="0" y="0"/>
                </a:lnTo>
                <a:close/>
              </a:path>
            </a:pathLst>
          </a:custGeom>
          <a:blipFill>
            <a:blip r:embed="rId3">
              <a:extLst>
                <a:ext uri="{96DAC541-7B7A-43D3-8B79-37D633B846F1}">
                  <asvg:svgBlip xmlns:asvg="http://schemas.microsoft.com/office/drawing/2016/SVG/main" r:embed="rId4"/>
                </a:ext>
              </a:extLst>
            </a:blip>
            <a:stretch>
              <a:fillRect l="-9" r="-9"/>
            </a:stretch>
          </a:blipFill>
        </p:spPr>
      </p:sp>
      <p:sp>
        <p:nvSpPr>
          <p:cNvPr id="15" name="TextBox 15"/>
          <p:cNvSpPr txBox="1"/>
          <p:nvPr/>
        </p:nvSpPr>
        <p:spPr>
          <a:xfrm>
            <a:off x="1028700" y="895188"/>
            <a:ext cx="9715500" cy="1474470"/>
          </a:xfrm>
          <a:prstGeom prst="rect">
            <a:avLst/>
          </a:prstGeom>
        </p:spPr>
        <p:txBody>
          <a:bodyPr wrap="square" lIns="0" tIns="0" rIns="0" bIns="0" rtlCol="0" anchor="t">
            <a:spAutoFit/>
          </a:bodyPr>
          <a:lstStyle/>
          <a:p>
            <a:pPr algn="l">
              <a:lnSpc>
                <a:spcPts val="6360"/>
              </a:lnSpc>
            </a:pPr>
            <a:r>
              <a:rPr lang="en-US" sz="5300" b="1" dirty="0" err="1">
                <a:solidFill>
                  <a:srgbClr val="2563EB"/>
                </a:solidFill>
                <a:latin typeface="Arimo Bold" panose="020B0704020202020204"/>
                <a:ea typeface="Arimo Bold" panose="020B0704020202020204"/>
                <a:cs typeface="Arimo Bold" panose="020B0704020202020204"/>
                <a:sym typeface="Arimo Bold" panose="020B0704020202020204"/>
              </a:rPr>
              <a:t>第九届中国高校智能机器人大赛</a:t>
            </a:r>
            <a:endParaRPr lang="en-US" sz="5300" b="1" dirty="0">
              <a:solidFill>
                <a:srgbClr val="2563EB"/>
              </a:solidFill>
              <a:latin typeface="Arimo Bold" panose="020B0704020202020204"/>
              <a:ea typeface="Arimo Bold" panose="020B0704020202020204"/>
              <a:cs typeface="Arimo Bold" panose="020B0704020202020204"/>
              <a:sym typeface="Arimo Bold" panose="020B0704020202020204"/>
            </a:endParaRPr>
          </a:p>
          <a:p>
            <a:pPr algn="l">
              <a:lnSpc>
                <a:spcPts val="5040"/>
              </a:lnSpc>
            </a:pPr>
            <a:endParaRPr lang="en-US" sz="5300" b="1" dirty="0">
              <a:solidFill>
                <a:srgbClr val="2563EB"/>
              </a:solidFill>
              <a:latin typeface="Arimo Bold" panose="020B0704020202020204"/>
              <a:ea typeface="Arimo Bold" panose="020B0704020202020204"/>
              <a:cs typeface="Arimo Bold" panose="020B0704020202020204"/>
              <a:sym typeface="Arimo Bold" panose="020B0704020202020204"/>
            </a:endParaRPr>
          </a:p>
        </p:txBody>
      </p:sp>
      <p:sp>
        <p:nvSpPr>
          <p:cNvPr id="16" name="TextBox 16"/>
          <p:cNvSpPr txBox="1"/>
          <p:nvPr/>
        </p:nvSpPr>
        <p:spPr>
          <a:xfrm>
            <a:off x="1213190" y="1893430"/>
            <a:ext cx="6934200" cy="476250"/>
          </a:xfrm>
          <a:prstGeom prst="rect">
            <a:avLst/>
          </a:prstGeom>
        </p:spPr>
        <p:txBody>
          <a:bodyPr lIns="0" tIns="0" rIns="0" bIns="0" rtlCol="0" anchor="t">
            <a:spAutoFit/>
          </a:bodyPr>
          <a:lstStyle/>
          <a:p>
            <a:pPr algn="l">
              <a:lnSpc>
                <a:spcPts val="3600"/>
              </a:lnSpc>
            </a:pPr>
            <a:r>
              <a:rPr lang="en-US" sz="3000">
                <a:solidFill>
                  <a:srgbClr val="183A5A"/>
                </a:solidFill>
                <a:latin typeface="Arimo" panose="020B0604020202020204"/>
                <a:ea typeface="Arimo" panose="020B0604020202020204"/>
                <a:cs typeface="Arimo" panose="020B0604020202020204"/>
                <a:sym typeface="Arimo" panose="020B0604020202020204"/>
              </a:rPr>
              <a:t>智能家居-自制实物组</a:t>
            </a:r>
          </a:p>
        </p:txBody>
      </p:sp>
      <p:sp>
        <p:nvSpPr>
          <p:cNvPr id="17" name="TextBox 17"/>
          <p:cNvSpPr txBox="1"/>
          <p:nvPr/>
        </p:nvSpPr>
        <p:spPr>
          <a:xfrm>
            <a:off x="1097280" y="2500179"/>
            <a:ext cx="9165812" cy="3166044"/>
          </a:xfrm>
          <a:prstGeom prst="rect">
            <a:avLst/>
          </a:prstGeom>
        </p:spPr>
        <p:txBody>
          <a:bodyPr lIns="0" tIns="0" rIns="0" bIns="0" rtlCol="0" anchor="t">
            <a:spAutoFit/>
          </a:bodyPr>
          <a:lstStyle/>
          <a:p>
            <a:pPr algn="l">
              <a:lnSpc>
                <a:spcPts val="12960"/>
              </a:lnSpc>
            </a:pPr>
            <a:r>
              <a:rPr lang="en-US" sz="7200" b="1" spc="450">
                <a:solidFill>
                  <a:srgbClr val="4CC9F0"/>
                </a:solidFill>
                <a:latin typeface="Arimo Bold" panose="020B0704020202020204"/>
                <a:ea typeface="Arimo Bold" panose="020B0704020202020204"/>
                <a:cs typeface="Arimo Bold" panose="020B0704020202020204"/>
                <a:sym typeface="Arimo Bold" panose="020B0704020202020204"/>
              </a:rPr>
              <a:t>感谢各位老师</a:t>
            </a:r>
          </a:p>
          <a:p>
            <a:pPr algn="l">
              <a:lnSpc>
                <a:spcPts val="12960"/>
              </a:lnSpc>
            </a:pPr>
            <a:r>
              <a:rPr lang="en-US" sz="7200" b="1" spc="450">
                <a:solidFill>
                  <a:srgbClr val="4CC9F0"/>
                </a:solidFill>
                <a:latin typeface="Arimo Bold" panose="020B0704020202020204"/>
                <a:ea typeface="Arimo Bold" panose="020B0704020202020204"/>
                <a:cs typeface="Arimo Bold" panose="020B0704020202020204"/>
                <a:sym typeface="Arimo Bold" panose="020B0704020202020204"/>
              </a:rPr>
              <a:t>         恳请批评指正</a:t>
            </a:r>
          </a:p>
        </p:txBody>
      </p:sp>
      <p:sp>
        <p:nvSpPr>
          <p:cNvPr id="18" name="TextBox 18"/>
          <p:cNvSpPr txBox="1"/>
          <p:nvPr/>
        </p:nvSpPr>
        <p:spPr>
          <a:xfrm>
            <a:off x="1934461" y="8127883"/>
            <a:ext cx="1960578" cy="479806"/>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Variable X</a:t>
            </a:r>
          </a:p>
        </p:txBody>
      </p:sp>
      <p:sp>
        <p:nvSpPr>
          <p:cNvPr id="19" name="TextBox 19"/>
          <p:cNvSpPr txBox="1"/>
          <p:nvPr/>
        </p:nvSpPr>
        <p:spPr>
          <a:xfrm>
            <a:off x="6526425" y="8127759"/>
            <a:ext cx="3057077" cy="479806"/>
          </a:xfrm>
          <a:prstGeom prst="rect">
            <a:avLst/>
          </a:prstGeom>
        </p:spPr>
        <p:txBody>
          <a:bodyPr lIns="0" tIns="0" rIns="0" bIns="0" rtlCol="0" anchor="t">
            <a:spAutoFit/>
          </a:bodyPr>
          <a:lstStyle/>
          <a:p>
            <a:pPr algn="l">
              <a:lnSpc>
                <a:spcPts val="3885"/>
              </a:lnSpc>
            </a:pPr>
            <a:r>
              <a:rPr lang="en-US" sz="2700">
                <a:solidFill>
                  <a:srgbClr val="183A5A"/>
                </a:solidFill>
                <a:latin typeface="Arimo" panose="020B0604020202020204"/>
                <a:ea typeface="Arimo" panose="020B0604020202020204"/>
                <a:cs typeface="Arimo" panose="020B0604020202020204"/>
                <a:sym typeface="Arimo" panose="020B0604020202020204"/>
              </a:rPr>
              <a:t>2026年6月</a:t>
            </a:r>
          </a:p>
        </p:txBody>
      </p:sp>
      <p:sp>
        <p:nvSpPr>
          <p:cNvPr id="20" name="TextBox 20"/>
          <p:cNvSpPr txBox="1"/>
          <p:nvPr/>
        </p:nvSpPr>
        <p:spPr>
          <a:xfrm>
            <a:off x="1934461" y="7232294"/>
            <a:ext cx="2162642"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团队名称</a:t>
            </a:r>
          </a:p>
        </p:txBody>
      </p:sp>
      <p:sp>
        <p:nvSpPr>
          <p:cNvPr id="21" name="TextBox 21"/>
          <p:cNvSpPr txBox="1"/>
          <p:nvPr/>
        </p:nvSpPr>
        <p:spPr>
          <a:xfrm>
            <a:off x="6526425" y="7206405"/>
            <a:ext cx="2776861" cy="725567"/>
          </a:xfrm>
          <a:prstGeom prst="rect">
            <a:avLst/>
          </a:prstGeom>
        </p:spPr>
        <p:txBody>
          <a:bodyPr lIns="0" tIns="0" rIns="0" bIns="0" rtlCol="0" anchor="t">
            <a:spAutoFit/>
          </a:bodyPr>
          <a:lstStyle/>
          <a:p>
            <a:pPr algn="l">
              <a:lnSpc>
                <a:spcPts val="4320"/>
              </a:lnSpc>
            </a:pPr>
            <a:r>
              <a:rPr lang="en-US" sz="3000" b="1">
                <a:solidFill>
                  <a:srgbClr val="183A5A"/>
                </a:solidFill>
                <a:latin typeface="Arimo Bold" panose="020B0704020202020204"/>
                <a:ea typeface="Arimo Bold" panose="020B0704020202020204"/>
                <a:cs typeface="Arimo Bold" panose="020B0704020202020204"/>
                <a:sym typeface="Arimo Bold" panose="020B0704020202020204"/>
              </a:rPr>
              <a:t>汇报时间</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12,&quot;top&quot;:102.55851788976346,&quot;width&quot;:1412.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537.5072301417325,&quot;left&quot;:5.55,&quot;top&quot;:102.55851788976346,&quot;width&quot;:1418.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898</Words>
  <Application>Microsoft Office PowerPoint</Application>
  <PresentationFormat>自定义</PresentationFormat>
  <Paragraphs>213</Paragraphs>
  <Slides>16</Slides>
  <Notes>16</Notes>
  <HiddenSlides>0</HiddenSlides>
  <MMClips>5</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 Bold</vt:lpstr>
      <vt:lpstr>Arial</vt:lpstr>
      <vt:lpstr>Arimo Bold</vt:lpstr>
      <vt:lpstr>Calibri</vt:lpstr>
      <vt:lpstr>Arimo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基于语音识别和YOLOV8的智能自动晾衣机.pptx</dc:title>
  <dc:creator/>
  <cp:lastModifiedBy>年 荆</cp:lastModifiedBy>
  <cp:revision>6</cp:revision>
  <dcterms:created xsi:type="dcterms:W3CDTF">2006-08-16T00:00:00Z</dcterms:created>
  <dcterms:modified xsi:type="dcterms:W3CDTF">2026-06-05T16:33:18Z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{"Label":"1","ContentProducer":"001191110105MA01AN806X00000","ProduceID":"DAHIfOFSvMU","ReservedCode1":"","ContentPropagator":"001191110105MA01AN806X00000","PropagateID":"DAHIfOFSvMU","ReservedCode2":""}</vt:lpwstr>
  </property>
  <property fmtid="{D5CDD505-2E9C-101B-9397-08002B2CF9AE}" pid="3" name="ICV">
    <vt:lpwstr>BE447CE71AA04740A8407600A2A1F8A0_13</vt:lpwstr>
  </property>
  <property fmtid="{D5CDD505-2E9C-101B-9397-08002B2CF9AE}" pid="4" name="KSOProductBuildVer">
    <vt:lpwstr>2052-12.1.0.26375</vt:lpwstr>
  </property>
</Properties>
</file>